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692640" y="-1280160"/>
            <a:ext cx="4114800" cy="4114800"/>
          </a:xfrm>
          <a:prstGeom prst="ellipse">
            <a:avLst/>
          </a:prstGeom>
          <a:solidFill>
            <a:srgbClr val="13315C"/>
          </a:solidFill>
          <a:ln/>
        </p:spPr>
      </p:sp>
      <p:sp>
        <p:nvSpPr>
          <p:cNvPr id="3" name="Shape 1"/>
          <p:cNvSpPr/>
          <p:nvPr/>
        </p:nvSpPr>
        <p:spPr>
          <a:xfrm>
            <a:off x="10607040" y="5120640"/>
            <a:ext cx="2926080" cy="2926080"/>
          </a:xfrm>
          <a:prstGeom prst="ellipse">
            <a:avLst/>
          </a:prstGeom>
          <a:solidFill>
            <a:srgbClr val="1C7293"/>
          </a:solidFill>
          <a:ln/>
        </p:spPr>
      </p:sp>
      <p:sp>
        <p:nvSpPr>
          <p:cNvPr id="4" name="Text 2"/>
          <p:cNvSpPr/>
          <p:nvPr/>
        </p:nvSpPr>
        <p:spPr>
          <a:xfrm>
            <a:off x="731520" y="1965960"/>
            <a:ext cx="9601200" cy="91440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CUSTOMER CHURN ANALYSIS</a:t>
            </a:r>
            <a:endParaRPr lang="en-US" sz="4200" dirty="0"/>
          </a:p>
        </p:txBody>
      </p:sp>
      <p:sp>
        <p:nvSpPr>
          <p:cNvPr id="5" name="Text 3"/>
          <p:cNvSpPr/>
          <p:nvPr/>
        </p:nvSpPr>
        <p:spPr>
          <a:xfrm>
            <a:off x="731520" y="2788920"/>
            <a:ext cx="8686800" cy="548640"/>
          </a:xfrm>
          <a:prstGeom prst="rect">
            <a:avLst/>
          </a:prstGeom>
          <a:noFill/>
          <a:ln/>
        </p:spPr>
        <p:txBody>
          <a:bodyPr wrap="square" rtlCol="0" anchor="ctr"/>
          <a:lstStyle/>
          <a:p>
            <a:pPr indent="0" marL="0">
              <a:buNone/>
            </a:pPr>
            <a:r>
              <a:rPr lang="en-US" sz="1700" i="1" dirty="0">
                <a:solidFill>
                  <a:srgbClr val="8FB8DE"/>
                </a:solidFill>
                <a:latin typeface="Calibri" pitchFamily="34" charset="0"/>
                <a:ea typeface="Calibri" pitchFamily="34" charset="-122"/>
                <a:cs typeface="Calibri" pitchFamily="34" charset="-120"/>
              </a:rPr>
              <a:t>Uncovering the drivers of customer attrition using Python and SQL</a:t>
            </a:r>
            <a:endParaRPr lang="en-US" sz="1700" dirty="0"/>
          </a:p>
        </p:txBody>
      </p:sp>
      <p:sp>
        <p:nvSpPr>
          <p:cNvPr id="6" name="Shape 4"/>
          <p:cNvSpPr/>
          <p:nvPr/>
        </p:nvSpPr>
        <p:spPr>
          <a:xfrm>
            <a:off x="731520" y="3520440"/>
            <a:ext cx="923544" cy="384048"/>
          </a:xfrm>
          <a:prstGeom prst="roundRect">
            <a:avLst>
              <a:gd name="adj" fmla="val 50000"/>
            </a:avLst>
          </a:prstGeom>
          <a:solidFill>
            <a:srgbClr val="13315C"/>
          </a:solidFill>
          <a:ln w="12700">
            <a:solidFill>
              <a:srgbClr val="1C7293"/>
            </a:solidFill>
            <a:prstDash val="solid"/>
          </a:ln>
        </p:spPr>
      </p:sp>
      <p:sp>
        <p:nvSpPr>
          <p:cNvPr id="7" name="Text 5"/>
          <p:cNvSpPr/>
          <p:nvPr/>
        </p:nvSpPr>
        <p:spPr>
          <a:xfrm>
            <a:off x="731520" y="3520440"/>
            <a:ext cx="923544" cy="384048"/>
          </a:xfrm>
          <a:prstGeom prst="rect">
            <a:avLst/>
          </a:prstGeom>
          <a:noFill/>
          <a:ln/>
        </p:spPr>
        <p:txBody>
          <a:bodyPr wrap="square" rtlCol="0" anchor="ctr"/>
          <a:lstStyle/>
          <a:p>
            <a:pPr algn="ctr" indent="0" marL="0">
              <a:buNone/>
            </a:pPr>
            <a:r>
              <a:rPr lang="en-US" sz="1200" b="1" dirty="0">
                <a:solidFill>
                  <a:srgbClr val="EAF2FB"/>
                </a:solidFill>
                <a:latin typeface="Calibri" pitchFamily="34" charset="0"/>
                <a:ea typeface="Calibri" pitchFamily="34" charset="-122"/>
                <a:cs typeface="Calibri" pitchFamily="34" charset="-120"/>
              </a:rPr>
              <a:t>Python</a:t>
            </a:r>
            <a:endParaRPr lang="en-US" sz="1200" dirty="0"/>
          </a:p>
        </p:txBody>
      </p:sp>
      <p:sp>
        <p:nvSpPr>
          <p:cNvPr id="8" name="Shape 6"/>
          <p:cNvSpPr/>
          <p:nvPr/>
        </p:nvSpPr>
        <p:spPr>
          <a:xfrm>
            <a:off x="1819656" y="3520440"/>
            <a:ext cx="923544" cy="384048"/>
          </a:xfrm>
          <a:prstGeom prst="roundRect">
            <a:avLst>
              <a:gd name="adj" fmla="val 50000"/>
            </a:avLst>
          </a:prstGeom>
          <a:solidFill>
            <a:srgbClr val="13315C"/>
          </a:solidFill>
          <a:ln w="12700">
            <a:solidFill>
              <a:srgbClr val="1C7293"/>
            </a:solidFill>
            <a:prstDash val="solid"/>
          </a:ln>
        </p:spPr>
      </p:sp>
      <p:sp>
        <p:nvSpPr>
          <p:cNvPr id="9" name="Text 7"/>
          <p:cNvSpPr/>
          <p:nvPr/>
        </p:nvSpPr>
        <p:spPr>
          <a:xfrm>
            <a:off x="1819656" y="3520440"/>
            <a:ext cx="923544" cy="384048"/>
          </a:xfrm>
          <a:prstGeom prst="rect">
            <a:avLst/>
          </a:prstGeom>
          <a:noFill/>
          <a:ln/>
        </p:spPr>
        <p:txBody>
          <a:bodyPr wrap="square" rtlCol="0" anchor="ctr"/>
          <a:lstStyle/>
          <a:p>
            <a:pPr algn="ctr" indent="0" marL="0">
              <a:buNone/>
            </a:pPr>
            <a:r>
              <a:rPr lang="en-US" sz="1200" b="1" dirty="0">
                <a:solidFill>
                  <a:srgbClr val="EAF2FB"/>
                </a:solidFill>
                <a:latin typeface="Calibri" pitchFamily="34" charset="0"/>
                <a:ea typeface="Calibri" pitchFamily="34" charset="-122"/>
                <a:cs typeface="Calibri" pitchFamily="34" charset="-120"/>
              </a:rPr>
              <a:t>Pandas</a:t>
            </a:r>
            <a:endParaRPr lang="en-US" sz="1200" dirty="0"/>
          </a:p>
        </p:txBody>
      </p:sp>
      <p:sp>
        <p:nvSpPr>
          <p:cNvPr id="10" name="Shape 8"/>
          <p:cNvSpPr/>
          <p:nvPr/>
        </p:nvSpPr>
        <p:spPr>
          <a:xfrm>
            <a:off x="2907792" y="3520440"/>
            <a:ext cx="1024128" cy="384048"/>
          </a:xfrm>
          <a:prstGeom prst="roundRect">
            <a:avLst>
              <a:gd name="adj" fmla="val 50000"/>
            </a:avLst>
          </a:prstGeom>
          <a:solidFill>
            <a:srgbClr val="13315C"/>
          </a:solidFill>
          <a:ln w="12700">
            <a:solidFill>
              <a:srgbClr val="1C7293"/>
            </a:solidFill>
            <a:prstDash val="solid"/>
          </a:ln>
        </p:spPr>
      </p:sp>
      <p:sp>
        <p:nvSpPr>
          <p:cNvPr id="11" name="Text 9"/>
          <p:cNvSpPr/>
          <p:nvPr/>
        </p:nvSpPr>
        <p:spPr>
          <a:xfrm>
            <a:off x="2907792" y="3520440"/>
            <a:ext cx="1024128" cy="384048"/>
          </a:xfrm>
          <a:prstGeom prst="rect">
            <a:avLst/>
          </a:prstGeom>
          <a:noFill/>
          <a:ln/>
        </p:spPr>
        <p:txBody>
          <a:bodyPr wrap="square" rtlCol="0" anchor="ctr"/>
          <a:lstStyle/>
          <a:p>
            <a:pPr algn="ctr" indent="0" marL="0">
              <a:buNone/>
            </a:pPr>
            <a:r>
              <a:rPr lang="en-US" sz="1200" b="1" dirty="0">
                <a:solidFill>
                  <a:srgbClr val="EAF2FB"/>
                </a:solidFill>
                <a:latin typeface="Calibri" pitchFamily="34" charset="0"/>
                <a:ea typeface="Calibri" pitchFamily="34" charset="-122"/>
                <a:cs typeface="Calibri" pitchFamily="34" charset="-120"/>
              </a:rPr>
              <a:t>Seaborn</a:t>
            </a:r>
            <a:endParaRPr lang="en-US" sz="1200" dirty="0"/>
          </a:p>
        </p:txBody>
      </p:sp>
      <p:sp>
        <p:nvSpPr>
          <p:cNvPr id="12" name="Shape 10"/>
          <p:cNvSpPr/>
          <p:nvPr/>
        </p:nvSpPr>
        <p:spPr>
          <a:xfrm>
            <a:off x="4096512" y="3520440"/>
            <a:ext cx="621792" cy="384048"/>
          </a:xfrm>
          <a:prstGeom prst="roundRect">
            <a:avLst>
              <a:gd name="adj" fmla="val 50000"/>
            </a:avLst>
          </a:prstGeom>
          <a:solidFill>
            <a:srgbClr val="13315C"/>
          </a:solidFill>
          <a:ln w="12700">
            <a:solidFill>
              <a:srgbClr val="1C7293"/>
            </a:solidFill>
            <a:prstDash val="solid"/>
          </a:ln>
        </p:spPr>
      </p:sp>
      <p:sp>
        <p:nvSpPr>
          <p:cNvPr id="13" name="Text 11"/>
          <p:cNvSpPr/>
          <p:nvPr/>
        </p:nvSpPr>
        <p:spPr>
          <a:xfrm>
            <a:off x="4096512" y="3520440"/>
            <a:ext cx="621792" cy="384048"/>
          </a:xfrm>
          <a:prstGeom prst="rect">
            <a:avLst/>
          </a:prstGeom>
          <a:noFill/>
          <a:ln/>
        </p:spPr>
        <p:txBody>
          <a:bodyPr wrap="square" rtlCol="0" anchor="ctr"/>
          <a:lstStyle/>
          <a:p>
            <a:pPr algn="ctr" indent="0" marL="0">
              <a:buNone/>
            </a:pPr>
            <a:r>
              <a:rPr lang="en-US" sz="1200" b="1" dirty="0">
                <a:solidFill>
                  <a:srgbClr val="EAF2FB"/>
                </a:solidFill>
                <a:latin typeface="Calibri" pitchFamily="34" charset="0"/>
                <a:ea typeface="Calibri" pitchFamily="34" charset="-122"/>
                <a:cs typeface="Calibri" pitchFamily="34" charset="-120"/>
              </a:rPr>
              <a:t>SQL</a:t>
            </a:r>
            <a:endParaRPr lang="en-US" sz="1200" dirty="0"/>
          </a:p>
        </p:txBody>
      </p:sp>
      <p:sp>
        <p:nvSpPr>
          <p:cNvPr id="14" name="Text 12"/>
          <p:cNvSpPr/>
          <p:nvPr/>
        </p:nvSpPr>
        <p:spPr>
          <a:xfrm>
            <a:off x="731520" y="5989320"/>
            <a:ext cx="7315200" cy="365760"/>
          </a:xfrm>
          <a:prstGeom prst="rect">
            <a:avLst/>
          </a:prstGeom>
          <a:noFill/>
          <a:ln/>
        </p:spPr>
        <p:txBody>
          <a:bodyPr wrap="square" rtlCol="0" anchor="ctr"/>
          <a:lstStyle/>
          <a:p>
            <a:pPr indent="0" marL="0">
              <a:buNone/>
            </a:pPr>
            <a:r>
              <a:rPr lang="en-US" sz="1250" dirty="0">
                <a:solidFill>
                  <a:srgbClr val="9FB6D0"/>
                </a:solidFill>
                <a:latin typeface="Calibri" pitchFamily="34" charset="0"/>
                <a:ea typeface="Calibri" pitchFamily="34" charset="-122"/>
                <a:cs typeface="Calibri" pitchFamily="34" charset="-120"/>
              </a:rPr>
              <a:t>Data Cleaning  •  Exploratory Data Analysis  •  SQL Business Insights</a:t>
            </a:r>
            <a:endParaRPr lang="en-US" sz="1250" dirty="0"/>
          </a:p>
        </p:txBody>
      </p:sp>
      <p:sp>
        <p:nvSpPr>
          <p:cNvPr id="15" name="Text 13"/>
          <p:cNvSpPr/>
          <p:nvPr/>
        </p:nvSpPr>
        <p:spPr>
          <a:xfrm>
            <a:off x="731520" y="6355080"/>
            <a:ext cx="5486400" cy="36576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Riya Mawar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algn="l" indent="0" marL="0">
              <a:buNone/>
            </a:pPr>
            <a:r>
              <a:rPr lang="en-US" sz="3000" b="1" dirty="0">
                <a:solidFill>
                  <a:srgbClr val="10243E"/>
                </a:solidFill>
                <a:latin typeface="Cambria" pitchFamily="34" charset="0"/>
                <a:ea typeface="Cambria" pitchFamily="34" charset="-122"/>
                <a:cs typeface="Cambria" pitchFamily="34" charset="-120"/>
              </a:rPr>
              <a:t>Project Objective</a:t>
            </a:r>
            <a:endParaRPr lang="en-US" sz="3000" dirty="0"/>
          </a:p>
        </p:txBody>
      </p:sp>
      <p:sp>
        <p:nvSpPr>
          <p:cNvPr id="3" name="Text 1"/>
          <p:cNvSpPr/>
          <p:nvPr/>
        </p:nvSpPr>
        <p:spPr>
          <a:xfrm>
            <a:off x="457200" y="1143000"/>
            <a:ext cx="6400800" cy="2011680"/>
          </a:xfrm>
          <a:prstGeom prst="rect">
            <a:avLst/>
          </a:prstGeom>
          <a:noFill/>
          <a:ln/>
        </p:spPr>
        <p:txBody>
          <a:bodyPr wrap="square" rtlCol="0" anchor="t"/>
          <a:lstStyle/>
          <a:p>
            <a:pPr indent="0" marL="0">
              <a:lnSpc>
                <a:spcPct val="125000"/>
              </a:lnSpc>
              <a:buNone/>
            </a:pPr>
            <a:r>
              <a:rPr lang="en-US" sz="1450" dirty="0">
                <a:solidFill>
                  <a:srgbClr val="10243E"/>
                </a:solidFill>
                <a:latin typeface="Calibri" pitchFamily="34" charset="0"/>
                <a:ea typeface="Calibri" pitchFamily="34" charset="-122"/>
                <a:cs typeface="Calibri" pitchFamily="34" charset="-120"/>
              </a:rPr>
              <a:t>This project analyzes the Telco Customer Churn dataset to understand why customers leave and what factors most strongly predict attrition. Using Python for data cleaning and exploratory analysis, and SQL for deeper business-focused querying, the goal is to turn raw customer data into clear, actionable retention strategies.</a:t>
            </a:r>
            <a:endParaRPr lang="en-US" sz="1450" dirty="0"/>
          </a:p>
        </p:txBody>
      </p:sp>
      <p:sp>
        <p:nvSpPr>
          <p:cNvPr id="4" name="Text 2"/>
          <p:cNvSpPr/>
          <p:nvPr/>
        </p:nvSpPr>
        <p:spPr>
          <a:xfrm>
            <a:off x="457200" y="5212080"/>
            <a:ext cx="6400800" cy="822960"/>
          </a:xfrm>
          <a:prstGeom prst="rect">
            <a:avLst/>
          </a:prstGeom>
          <a:noFill/>
          <a:ln/>
        </p:spPr>
        <p:txBody>
          <a:bodyPr wrap="square" rtlCol="0" anchor="ctr"/>
          <a:lstStyle/>
          <a:p>
            <a:pPr indent="0" marL="0">
              <a:buNone/>
            </a:pPr>
            <a:r>
              <a:rPr lang="en-US" sz="1400" i="1" dirty="0">
                <a:solidFill>
                  <a:srgbClr val="1C7293"/>
                </a:solidFill>
                <a:latin typeface="Cambria" pitchFamily="34" charset="0"/>
                <a:ea typeface="Cambria" pitchFamily="34" charset="-122"/>
                <a:cs typeface="Cambria" pitchFamily="34" charset="-120"/>
              </a:rPr>
              <a:t>"You can’t fix what you don’t understand — churn analysis turns lost customers into lessons."</a:t>
            </a:r>
            <a:endParaRPr lang="en-US" sz="1400" dirty="0"/>
          </a:p>
        </p:txBody>
      </p:sp>
      <p:sp>
        <p:nvSpPr>
          <p:cNvPr id="5" name="Shape 3"/>
          <p:cNvSpPr/>
          <p:nvPr/>
        </p:nvSpPr>
        <p:spPr>
          <a:xfrm>
            <a:off x="7315200" y="1188720"/>
            <a:ext cx="2148840" cy="1051560"/>
          </a:xfrm>
          <a:prstGeom prst="roundRect">
            <a:avLst>
              <a:gd name="adj" fmla="val 8696"/>
            </a:avLst>
          </a:prstGeom>
          <a:solidFill>
            <a:srgbClr val="1C7293"/>
          </a:solidFill>
          <a:ln/>
        </p:spPr>
      </p:sp>
      <p:sp>
        <p:nvSpPr>
          <p:cNvPr id="6" name="Text 4"/>
          <p:cNvSpPr/>
          <p:nvPr/>
        </p:nvSpPr>
        <p:spPr>
          <a:xfrm>
            <a:off x="7452360" y="1188720"/>
            <a:ext cx="1874520" cy="105156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Clean &amp; Prepare Data</a:t>
            </a:r>
            <a:endParaRPr lang="en-US" sz="1350" dirty="0"/>
          </a:p>
        </p:txBody>
      </p:sp>
      <p:sp>
        <p:nvSpPr>
          <p:cNvPr id="7" name="Shape 5"/>
          <p:cNvSpPr/>
          <p:nvPr/>
        </p:nvSpPr>
        <p:spPr>
          <a:xfrm>
            <a:off x="9720072" y="1188720"/>
            <a:ext cx="2148840" cy="1051560"/>
          </a:xfrm>
          <a:prstGeom prst="roundRect">
            <a:avLst>
              <a:gd name="adj" fmla="val 8696"/>
            </a:avLst>
          </a:prstGeom>
          <a:solidFill>
            <a:srgbClr val="5FA8D3"/>
          </a:solidFill>
          <a:ln/>
        </p:spPr>
      </p:sp>
      <p:sp>
        <p:nvSpPr>
          <p:cNvPr id="8" name="Text 6"/>
          <p:cNvSpPr/>
          <p:nvPr/>
        </p:nvSpPr>
        <p:spPr>
          <a:xfrm>
            <a:off x="9857232" y="1188720"/>
            <a:ext cx="1874520" cy="105156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Exploratory Analysis</a:t>
            </a:r>
            <a:endParaRPr lang="en-US" sz="1350" dirty="0"/>
          </a:p>
        </p:txBody>
      </p:sp>
      <p:sp>
        <p:nvSpPr>
          <p:cNvPr id="9" name="Shape 7"/>
          <p:cNvSpPr/>
          <p:nvPr/>
        </p:nvSpPr>
        <p:spPr>
          <a:xfrm>
            <a:off x="7315200" y="2496312"/>
            <a:ext cx="2148840" cy="1051560"/>
          </a:xfrm>
          <a:prstGeom prst="roundRect">
            <a:avLst>
              <a:gd name="adj" fmla="val 8696"/>
            </a:avLst>
          </a:prstGeom>
          <a:solidFill>
            <a:srgbClr val="13315C"/>
          </a:solidFill>
          <a:ln/>
        </p:spPr>
      </p:sp>
      <p:sp>
        <p:nvSpPr>
          <p:cNvPr id="10" name="Text 8"/>
          <p:cNvSpPr/>
          <p:nvPr/>
        </p:nvSpPr>
        <p:spPr>
          <a:xfrm>
            <a:off x="7452360" y="2496312"/>
            <a:ext cx="1874520" cy="105156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SQL Business Queries</a:t>
            </a:r>
            <a:endParaRPr lang="en-US" sz="1350" dirty="0"/>
          </a:p>
        </p:txBody>
      </p:sp>
      <p:sp>
        <p:nvSpPr>
          <p:cNvPr id="11" name="Shape 9"/>
          <p:cNvSpPr/>
          <p:nvPr/>
        </p:nvSpPr>
        <p:spPr>
          <a:xfrm>
            <a:off x="9720072" y="2496312"/>
            <a:ext cx="2148840" cy="1051560"/>
          </a:xfrm>
          <a:prstGeom prst="roundRect">
            <a:avLst>
              <a:gd name="adj" fmla="val 8696"/>
            </a:avLst>
          </a:prstGeom>
          <a:solidFill>
            <a:srgbClr val="1C7293"/>
          </a:solidFill>
          <a:ln/>
        </p:spPr>
      </p:sp>
      <p:sp>
        <p:nvSpPr>
          <p:cNvPr id="12" name="Text 10"/>
          <p:cNvSpPr/>
          <p:nvPr/>
        </p:nvSpPr>
        <p:spPr>
          <a:xfrm>
            <a:off x="9857232" y="2496312"/>
            <a:ext cx="1874520" cy="105156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Retention Insights</a:t>
            </a:r>
            <a:endParaRPr lang="en-US" sz="1350" dirty="0"/>
          </a:p>
        </p:txBody>
      </p:sp>
      <p:sp>
        <p:nvSpPr>
          <p:cNvPr id="13" name="Text 11"/>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9BA9B8"/>
                </a:solidFill>
                <a:latin typeface="Calibri" pitchFamily="34" charset="0"/>
                <a:ea typeface="Calibri" pitchFamily="34" charset="-122"/>
                <a:cs typeface="Calibri" pitchFamily="34" charset="-120"/>
              </a:rPr>
              <a:t>Customer Churn Analysis  |  Python &amp; SQL</a:t>
            </a:r>
            <a:endParaRPr lang="en-US" sz="900" dirty="0"/>
          </a:p>
        </p:txBody>
      </p:sp>
      <p:sp>
        <p:nvSpPr>
          <p:cNvPr id="14" name="Text 12"/>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9BA9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C"/>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algn="l" indent="0" marL="0">
              <a:buNone/>
            </a:pPr>
            <a:r>
              <a:rPr lang="en-US" sz="3000" b="1" dirty="0">
                <a:solidFill>
                  <a:srgbClr val="10243E"/>
                </a:solidFill>
                <a:latin typeface="Cambria" pitchFamily="34" charset="0"/>
                <a:ea typeface="Cambria" pitchFamily="34" charset="-122"/>
                <a:cs typeface="Cambria" pitchFamily="34" charset="-120"/>
              </a:rPr>
              <a:t>Dataset Overview</a:t>
            </a:r>
            <a:endParaRPr lang="en-US" sz="3000" dirty="0"/>
          </a:p>
        </p:txBody>
      </p:sp>
      <p:sp>
        <p:nvSpPr>
          <p:cNvPr id="3" name="Text 1"/>
          <p:cNvSpPr/>
          <p:nvPr/>
        </p:nvSpPr>
        <p:spPr>
          <a:xfrm>
            <a:off x="457200" y="1143000"/>
            <a:ext cx="6583680" cy="1920240"/>
          </a:xfrm>
          <a:prstGeom prst="rect">
            <a:avLst/>
          </a:prstGeom>
          <a:noFill/>
          <a:ln/>
        </p:spPr>
        <p:txBody>
          <a:bodyPr wrap="square" rtlCol="0" anchor="ctr"/>
          <a:lstStyle/>
          <a:p>
            <a:pPr indent="0" marL="0">
              <a:lnSpc>
                <a:spcPct val="125000"/>
              </a:lnSpc>
              <a:buNone/>
            </a:pPr>
            <a:r>
              <a:rPr lang="en-US" sz="1450" dirty="0">
                <a:solidFill>
                  <a:srgbClr val="10243E"/>
                </a:solidFill>
                <a:latin typeface="Calibri" pitchFamily="34" charset="0"/>
                <a:ea typeface="Calibri" pitchFamily="34" charset="-122"/>
                <a:cs typeface="Calibri" pitchFamily="34" charset="-120"/>
              </a:rPr>
              <a:t>The dataset used is the Telco Customer Churn dataset, containing demographic, account, and service-usage details for each customer. It includes the customer's contract type, billing information, subscribed services, and whether they churned — making it well suited for churn prediction and retention analysis.</a:t>
            </a:r>
            <a:endParaRPr lang="en-US" sz="1450" dirty="0"/>
          </a:p>
        </p:txBody>
      </p:sp>
      <p:sp>
        <p:nvSpPr>
          <p:cNvPr id="4" name="Text 2"/>
          <p:cNvSpPr/>
          <p:nvPr/>
        </p:nvSpPr>
        <p:spPr>
          <a:xfrm>
            <a:off x="457200" y="3200400"/>
            <a:ext cx="6583680" cy="640080"/>
          </a:xfrm>
          <a:prstGeom prst="rect">
            <a:avLst/>
          </a:prstGeom>
          <a:noFill/>
          <a:ln/>
        </p:spPr>
        <p:txBody>
          <a:bodyPr wrap="square" rtlCol="0" anchor="ctr"/>
          <a:lstStyle/>
          <a:p>
            <a:pPr indent="0" marL="0">
              <a:buNone/>
            </a:pPr>
            <a:r>
              <a:rPr lang="en-US" sz="1300" i="1" dirty="0">
                <a:solidFill>
                  <a:srgbClr val="5B6B7C"/>
                </a:solidFill>
                <a:latin typeface="Calibri" pitchFamily="34" charset="0"/>
                <a:ea typeface="Calibri" pitchFamily="34" charset="-122"/>
                <a:cs typeface="Calibri" pitchFamily="34" charset="-120"/>
              </a:rPr>
              <a:t>Key columns include: tenure, Contract, MonthlyCharges, TotalCharges, PaymentMethod, InternetService, and Churn.</a:t>
            </a:r>
            <a:endParaRPr lang="en-US" sz="1300" dirty="0"/>
          </a:p>
        </p:txBody>
      </p:sp>
      <p:sp>
        <p:nvSpPr>
          <p:cNvPr id="5" name="Shape 3"/>
          <p:cNvSpPr/>
          <p:nvPr/>
        </p:nvSpPr>
        <p:spPr>
          <a:xfrm>
            <a:off x="457200" y="4114800"/>
            <a:ext cx="1965960" cy="1371600"/>
          </a:xfrm>
          <a:prstGeom prst="roundRect">
            <a:avLst>
              <a:gd name="adj" fmla="val 8000"/>
            </a:avLst>
          </a:prstGeom>
          <a:solidFill>
            <a:srgbClr val="13315C"/>
          </a:solidFill>
          <a:ln/>
        </p:spPr>
      </p:sp>
      <p:sp>
        <p:nvSpPr>
          <p:cNvPr id="6" name="Text 4"/>
          <p:cNvSpPr/>
          <p:nvPr/>
        </p:nvSpPr>
        <p:spPr>
          <a:xfrm>
            <a:off x="457200" y="4279392"/>
            <a:ext cx="1965960" cy="75438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7,043</a:t>
            </a:r>
            <a:endParaRPr lang="en-US" sz="2600" dirty="0"/>
          </a:p>
        </p:txBody>
      </p:sp>
      <p:sp>
        <p:nvSpPr>
          <p:cNvPr id="7" name="Text 5"/>
          <p:cNvSpPr/>
          <p:nvPr/>
        </p:nvSpPr>
        <p:spPr>
          <a:xfrm>
            <a:off x="457200" y="4965192"/>
            <a:ext cx="1965960" cy="466344"/>
          </a:xfrm>
          <a:prstGeom prst="rect">
            <a:avLst/>
          </a:prstGeom>
          <a:noFill/>
          <a:ln/>
        </p:spPr>
        <p:txBody>
          <a:bodyPr wrap="square" rtlCol="0" anchor="ctr"/>
          <a:lstStyle/>
          <a:p>
            <a:pPr algn="ctr" indent="0" marL="0">
              <a:buNone/>
            </a:pPr>
            <a:r>
              <a:rPr lang="en-US" sz="1150" dirty="0">
                <a:solidFill>
                  <a:srgbClr val="EAF2FB"/>
                </a:solidFill>
                <a:latin typeface="Calibri" pitchFamily="34" charset="0"/>
                <a:ea typeface="Calibri" pitchFamily="34" charset="-122"/>
                <a:cs typeface="Calibri" pitchFamily="34" charset="-120"/>
              </a:rPr>
              <a:t>Raw Customer</a:t>
            </a:r>
            <a:endParaRPr lang="en-US" sz="1150" dirty="0"/>
          </a:p>
          <a:p>
            <a:pPr algn="ctr" indent="0" marL="0">
              <a:buNone/>
            </a:pPr>
            <a:r>
              <a:rPr lang="en-US" sz="1150" dirty="0">
                <a:solidFill>
                  <a:srgbClr val="EAF2FB"/>
                </a:solidFill>
                <a:latin typeface="Calibri" pitchFamily="34" charset="0"/>
                <a:ea typeface="Calibri" pitchFamily="34" charset="-122"/>
                <a:cs typeface="Calibri" pitchFamily="34" charset="-120"/>
              </a:rPr>
              <a:t>Records</a:t>
            </a:r>
            <a:endParaRPr lang="en-US" sz="1150" dirty="0"/>
          </a:p>
        </p:txBody>
      </p:sp>
      <p:sp>
        <p:nvSpPr>
          <p:cNvPr id="8" name="Shape 6"/>
          <p:cNvSpPr/>
          <p:nvPr/>
        </p:nvSpPr>
        <p:spPr>
          <a:xfrm>
            <a:off x="2606040" y="4114800"/>
            <a:ext cx="1965960" cy="1371600"/>
          </a:xfrm>
          <a:prstGeom prst="roundRect">
            <a:avLst>
              <a:gd name="adj" fmla="val 8000"/>
            </a:avLst>
          </a:prstGeom>
          <a:solidFill>
            <a:srgbClr val="1C7293"/>
          </a:solidFill>
          <a:ln/>
        </p:spPr>
      </p:sp>
      <p:sp>
        <p:nvSpPr>
          <p:cNvPr id="9" name="Text 7"/>
          <p:cNvSpPr/>
          <p:nvPr/>
        </p:nvSpPr>
        <p:spPr>
          <a:xfrm>
            <a:off x="2606040" y="4279392"/>
            <a:ext cx="1965960" cy="75438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21</a:t>
            </a:r>
            <a:endParaRPr lang="en-US" sz="2600" dirty="0"/>
          </a:p>
        </p:txBody>
      </p:sp>
      <p:sp>
        <p:nvSpPr>
          <p:cNvPr id="10" name="Text 8"/>
          <p:cNvSpPr/>
          <p:nvPr/>
        </p:nvSpPr>
        <p:spPr>
          <a:xfrm>
            <a:off x="2606040" y="4965192"/>
            <a:ext cx="1965960" cy="466344"/>
          </a:xfrm>
          <a:prstGeom prst="rect">
            <a:avLst/>
          </a:prstGeom>
          <a:noFill/>
          <a:ln/>
        </p:spPr>
        <p:txBody>
          <a:bodyPr wrap="square" rtlCol="0" anchor="ctr"/>
          <a:lstStyle/>
          <a:p>
            <a:pPr algn="ctr" indent="0" marL="0">
              <a:buNone/>
            </a:pPr>
            <a:r>
              <a:rPr lang="en-US" sz="1150" dirty="0">
                <a:solidFill>
                  <a:srgbClr val="EAF2FB"/>
                </a:solidFill>
                <a:latin typeface="Calibri" pitchFamily="34" charset="0"/>
                <a:ea typeface="Calibri" pitchFamily="34" charset="-122"/>
                <a:cs typeface="Calibri" pitchFamily="34" charset="-120"/>
              </a:rPr>
              <a:t>Total Columns</a:t>
            </a:r>
            <a:endParaRPr lang="en-US" sz="1150" dirty="0"/>
          </a:p>
        </p:txBody>
      </p:sp>
      <p:sp>
        <p:nvSpPr>
          <p:cNvPr id="11" name="Shape 9"/>
          <p:cNvSpPr/>
          <p:nvPr/>
        </p:nvSpPr>
        <p:spPr>
          <a:xfrm>
            <a:off x="4754880" y="4114800"/>
            <a:ext cx="1965960" cy="1371600"/>
          </a:xfrm>
          <a:prstGeom prst="roundRect">
            <a:avLst>
              <a:gd name="adj" fmla="val 8000"/>
            </a:avLst>
          </a:prstGeom>
          <a:solidFill>
            <a:srgbClr val="5FA8D3"/>
          </a:solidFill>
          <a:ln/>
        </p:spPr>
      </p:sp>
      <p:sp>
        <p:nvSpPr>
          <p:cNvPr id="12" name="Text 10"/>
          <p:cNvSpPr/>
          <p:nvPr/>
        </p:nvSpPr>
        <p:spPr>
          <a:xfrm>
            <a:off x="4754880" y="4279392"/>
            <a:ext cx="1965960" cy="75438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0</a:t>
            </a:r>
            <a:endParaRPr lang="en-US" sz="2600" dirty="0"/>
          </a:p>
        </p:txBody>
      </p:sp>
      <p:sp>
        <p:nvSpPr>
          <p:cNvPr id="13" name="Text 11"/>
          <p:cNvSpPr/>
          <p:nvPr/>
        </p:nvSpPr>
        <p:spPr>
          <a:xfrm>
            <a:off x="4754880" y="4965192"/>
            <a:ext cx="1965960" cy="466344"/>
          </a:xfrm>
          <a:prstGeom prst="rect">
            <a:avLst/>
          </a:prstGeom>
          <a:noFill/>
          <a:ln/>
        </p:spPr>
        <p:txBody>
          <a:bodyPr wrap="square" rtlCol="0" anchor="ctr"/>
          <a:lstStyle/>
          <a:p>
            <a:pPr algn="ctr" indent="0" marL="0">
              <a:buNone/>
            </a:pPr>
            <a:r>
              <a:rPr lang="en-US" sz="1150" dirty="0">
                <a:solidFill>
                  <a:srgbClr val="EAF2FB"/>
                </a:solidFill>
                <a:latin typeface="Calibri" pitchFamily="34" charset="0"/>
                <a:ea typeface="Calibri" pitchFamily="34" charset="-122"/>
                <a:cs typeface="Calibri" pitchFamily="34" charset="-120"/>
              </a:rPr>
              <a:t>Duplicate</a:t>
            </a:r>
            <a:endParaRPr lang="en-US" sz="1150" dirty="0"/>
          </a:p>
          <a:p>
            <a:pPr algn="ctr" indent="0" marL="0">
              <a:buNone/>
            </a:pPr>
            <a:r>
              <a:rPr lang="en-US" sz="1150" dirty="0">
                <a:solidFill>
                  <a:srgbClr val="EAF2FB"/>
                </a:solidFill>
                <a:latin typeface="Calibri" pitchFamily="34" charset="0"/>
                <a:ea typeface="Calibri" pitchFamily="34" charset="-122"/>
                <a:cs typeface="Calibri" pitchFamily="34" charset="-120"/>
              </a:rPr>
              <a:t>Records</a:t>
            </a:r>
            <a:endParaRPr lang="en-US" sz="1150" dirty="0"/>
          </a:p>
        </p:txBody>
      </p:sp>
      <p:sp>
        <p:nvSpPr>
          <p:cNvPr id="14" name="Shape 12"/>
          <p:cNvSpPr/>
          <p:nvPr/>
        </p:nvSpPr>
        <p:spPr>
          <a:xfrm>
            <a:off x="7315200" y="1143000"/>
            <a:ext cx="4389120" cy="4343400"/>
          </a:xfrm>
          <a:prstGeom prst="roundRect">
            <a:avLst>
              <a:gd name="adj" fmla="val 2526"/>
            </a:avLst>
          </a:prstGeom>
          <a:solidFill>
            <a:srgbClr val="FFFFFF"/>
          </a:solidFill>
          <a:ln w="12700">
            <a:solidFill>
              <a:srgbClr val="D8E3EE"/>
            </a:solidFill>
            <a:prstDash val="solid"/>
          </a:ln>
        </p:spPr>
      </p:sp>
      <p:sp>
        <p:nvSpPr>
          <p:cNvPr id="15" name="Text 13"/>
          <p:cNvSpPr/>
          <p:nvPr/>
        </p:nvSpPr>
        <p:spPr>
          <a:xfrm>
            <a:off x="7589520" y="1371600"/>
            <a:ext cx="3840480" cy="365760"/>
          </a:xfrm>
          <a:prstGeom prst="rect">
            <a:avLst/>
          </a:prstGeom>
          <a:noFill/>
          <a:ln/>
        </p:spPr>
        <p:txBody>
          <a:bodyPr wrap="square"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Dataset Type</a:t>
            </a:r>
            <a:endParaRPr lang="en-US" sz="1500" dirty="0"/>
          </a:p>
        </p:txBody>
      </p:sp>
      <p:sp>
        <p:nvSpPr>
          <p:cNvPr id="16" name="Text 14"/>
          <p:cNvSpPr/>
          <p:nvPr/>
        </p:nvSpPr>
        <p:spPr>
          <a:xfrm>
            <a:off x="7589520" y="1737360"/>
            <a:ext cx="3840480" cy="548640"/>
          </a:xfrm>
          <a:prstGeom prst="rect">
            <a:avLst/>
          </a:prstGeom>
          <a:noFill/>
          <a:ln/>
        </p:spPr>
        <p:txBody>
          <a:bodyPr wrap="square" rtlCol="0" anchor="ctr"/>
          <a:lstStyle/>
          <a:p>
            <a:pPr indent="0" marL="0">
              <a:buNone/>
            </a:pPr>
            <a:r>
              <a:rPr lang="en-US" sz="1200" dirty="0">
                <a:solidFill>
                  <a:srgbClr val="10243E"/>
                </a:solidFill>
                <a:latin typeface="Calibri" pitchFamily="34" charset="0"/>
                <a:ea typeface="Calibri" pitchFamily="34" charset="-122"/>
                <a:cs typeface="Calibri" pitchFamily="34" charset="-120"/>
              </a:rPr>
              <a:t>Telco Customer Churn Dataset (subscription &amp; billing records)</a:t>
            </a:r>
            <a:endParaRPr lang="en-US" sz="1200" dirty="0"/>
          </a:p>
        </p:txBody>
      </p:sp>
      <p:sp>
        <p:nvSpPr>
          <p:cNvPr id="17" name="Text 15"/>
          <p:cNvSpPr/>
          <p:nvPr/>
        </p:nvSpPr>
        <p:spPr>
          <a:xfrm>
            <a:off x="7589520" y="2377440"/>
            <a:ext cx="3840480" cy="365760"/>
          </a:xfrm>
          <a:prstGeom prst="rect">
            <a:avLst/>
          </a:prstGeom>
          <a:noFill/>
          <a:ln/>
        </p:spPr>
        <p:txBody>
          <a:bodyPr wrap="square"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Sample Columns</a:t>
            </a:r>
            <a:endParaRPr lang="en-US" sz="1500" dirty="0"/>
          </a:p>
        </p:txBody>
      </p:sp>
      <p:sp>
        <p:nvSpPr>
          <p:cNvPr id="18" name="Text 16"/>
          <p:cNvSpPr/>
          <p:nvPr/>
        </p:nvSpPr>
        <p:spPr>
          <a:xfrm>
            <a:off x="7589520" y="2743200"/>
            <a:ext cx="3840480" cy="2606040"/>
          </a:xfrm>
          <a:prstGeom prst="rect">
            <a:avLst/>
          </a:prstGeom>
          <a:noFill/>
          <a:ln/>
        </p:spPr>
        <p:txBody>
          <a:bodyPr wrap="square" rtlCol="0" anchor="ctr"/>
          <a:lstStyle/>
          <a:p>
            <a:pPr marL="342900" indent="-342900">
              <a:spcAft>
                <a:spcPts val="600"/>
              </a:spcAft>
              <a:buSzPct val="100000"/>
              <a:buChar char="▪"/>
            </a:pPr>
            <a:r>
              <a:rPr lang="en-US" sz="1200" dirty="0">
                <a:solidFill>
                  <a:srgbClr val="10243E"/>
                </a:solidFill>
                <a:latin typeface="Calibri" pitchFamily="34" charset="0"/>
                <a:ea typeface="Calibri" pitchFamily="34" charset="-122"/>
                <a:cs typeface="Calibri" pitchFamily="34" charset="-120"/>
              </a:rPr>
              <a:t>customerID</a:t>
            </a:r>
            <a:endParaRPr lang="en-US" sz="1200" dirty="0"/>
          </a:p>
          <a:p>
            <a:pPr marL="342900" indent="-342900">
              <a:spcAft>
                <a:spcPts val="600"/>
              </a:spcAft>
              <a:buSzPct val="100000"/>
              <a:buChar char="▪"/>
            </a:pPr>
            <a:r>
              <a:rPr lang="en-US" sz="1200" dirty="0">
                <a:solidFill>
                  <a:srgbClr val="10243E"/>
                </a:solidFill>
                <a:latin typeface="Calibri" pitchFamily="34" charset="0"/>
                <a:ea typeface="Calibri" pitchFamily="34" charset="-122"/>
                <a:cs typeface="Calibri" pitchFamily="34" charset="-120"/>
              </a:rPr>
              <a:t>tenure</a:t>
            </a:r>
            <a:endParaRPr lang="en-US" sz="1200" dirty="0"/>
          </a:p>
          <a:p>
            <a:pPr marL="342900" indent="-342900">
              <a:spcAft>
                <a:spcPts val="600"/>
              </a:spcAft>
              <a:buSzPct val="100000"/>
              <a:buChar char="▪"/>
            </a:pPr>
            <a:r>
              <a:rPr lang="en-US" sz="1200" dirty="0">
                <a:solidFill>
                  <a:srgbClr val="10243E"/>
                </a:solidFill>
                <a:latin typeface="Calibri" pitchFamily="34" charset="0"/>
                <a:ea typeface="Calibri" pitchFamily="34" charset="-122"/>
                <a:cs typeface="Calibri" pitchFamily="34" charset="-120"/>
              </a:rPr>
              <a:t>Contract</a:t>
            </a:r>
            <a:endParaRPr lang="en-US" sz="1200" dirty="0"/>
          </a:p>
          <a:p>
            <a:pPr marL="342900" indent="-342900">
              <a:spcAft>
                <a:spcPts val="600"/>
              </a:spcAft>
              <a:buSzPct val="100000"/>
              <a:buChar char="▪"/>
            </a:pPr>
            <a:r>
              <a:rPr lang="en-US" sz="1200" dirty="0">
                <a:solidFill>
                  <a:srgbClr val="10243E"/>
                </a:solidFill>
                <a:latin typeface="Calibri" pitchFamily="34" charset="0"/>
                <a:ea typeface="Calibri" pitchFamily="34" charset="-122"/>
                <a:cs typeface="Calibri" pitchFamily="34" charset="-120"/>
              </a:rPr>
              <a:t>MonthlyCharges</a:t>
            </a:r>
            <a:endParaRPr lang="en-US" sz="1200" dirty="0"/>
          </a:p>
          <a:p>
            <a:pPr marL="342900" indent="-342900">
              <a:spcAft>
                <a:spcPts val="600"/>
              </a:spcAft>
              <a:buSzPct val="100000"/>
              <a:buChar char="▪"/>
            </a:pPr>
            <a:r>
              <a:rPr lang="en-US" sz="1200" dirty="0">
                <a:solidFill>
                  <a:srgbClr val="10243E"/>
                </a:solidFill>
                <a:latin typeface="Calibri" pitchFamily="34" charset="0"/>
                <a:ea typeface="Calibri" pitchFamily="34" charset="-122"/>
                <a:cs typeface="Calibri" pitchFamily="34" charset="-120"/>
              </a:rPr>
              <a:t>TotalCharges</a:t>
            </a:r>
            <a:endParaRPr lang="en-US" sz="1200" dirty="0"/>
          </a:p>
          <a:p>
            <a:pPr marL="342900" indent="-342900">
              <a:spcAft>
                <a:spcPts val="600"/>
              </a:spcAft>
              <a:buSzPct val="100000"/>
              <a:buChar char="▪"/>
            </a:pPr>
            <a:r>
              <a:rPr lang="en-US" sz="1200" dirty="0">
                <a:solidFill>
                  <a:srgbClr val="10243E"/>
                </a:solidFill>
                <a:latin typeface="Calibri" pitchFamily="34" charset="0"/>
                <a:ea typeface="Calibri" pitchFamily="34" charset="-122"/>
                <a:cs typeface="Calibri" pitchFamily="34" charset="-120"/>
              </a:rPr>
              <a:t>PaymentMethod</a:t>
            </a:r>
            <a:endParaRPr lang="en-US" sz="1200" dirty="0"/>
          </a:p>
          <a:p>
            <a:pPr marL="342900" indent="-342900">
              <a:spcAft>
                <a:spcPts val="600"/>
              </a:spcAft>
              <a:buSzPct val="100000"/>
              <a:buChar char="▪"/>
            </a:pPr>
            <a:r>
              <a:rPr lang="en-US" sz="1200" dirty="0">
                <a:solidFill>
                  <a:srgbClr val="10243E"/>
                </a:solidFill>
                <a:latin typeface="Calibri" pitchFamily="34" charset="0"/>
                <a:ea typeface="Calibri" pitchFamily="34" charset="-122"/>
                <a:cs typeface="Calibri" pitchFamily="34" charset="-120"/>
              </a:rPr>
              <a:t>InternetService</a:t>
            </a:r>
            <a:endParaRPr lang="en-US" sz="1200" dirty="0"/>
          </a:p>
          <a:p>
            <a:pPr marL="342900" indent="-342900">
              <a:spcAft>
                <a:spcPts val="600"/>
              </a:spcAft>
              <a:buSzPct val="100000"/>
              <a:buChar char="▪"/>
            </a:pPr>
            <a:r>
              <a:rPr lang="en-US" sz="1200" dirty="0">
                <a:solidFill>
                  <a:srgbClr val="10243E"/>
                </a:solidFill>
                <a:latin typeface="Calibri" pitchFamily="34" charset="0"/>
                <a:ea typeface="Calibri" pitchFamily="34" charset="-122"/>
                <a:cs typeface="Calibri" pitchFamily="34" charset="-120"/>
              </a:rPr>
              <a:t>Churn</a:t>
            </a:r>
            <a:endParaRPr lang="en-US" sz="1200" dirty="0"/>
          </a:p>
        </p:txBody>
      </p:sp>
      <p:sp>
        <p:nvSpPr>
          <p:cNvPr id="19" name="Text 17"/>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9BA9B8"/>
                </a:solidFill>
                <a:latin typeface="Calibri" pitchFamily="34" charset="0"/>
                <a:ea typeface="Calibri" pitchFamily="34" charset="-122"/>
                <a:cs typeface="Calibri" pitchFamily="34" charset="-120"/>
              </a:rPr>
              <a:t>Customer Churn Analysis  |  Python &amp; SQL</a:t>
            </a:r>
            <a:endParaRPr lang="en-US" sz="900" dirty="0"/>
          </a:p>
        </p:txBody>
      </p:sp>
      <p:sp>
        <p:nvSpPr>
          <p:cNvPr id="20" name="Text 18"/>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9BA9B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algn="l" indent="0" marL="0">
              <a:buNone/>
            </a:pPr>
            <a:r>
              <a:rPr lang="en-US" sz="3000" b="1" dirty="0">
                <a:solidFill>
                  <a:srgbClr val="10243E"/>
                </a:solidFill>
                <a:latin typeface="Cambria" pitchFamily="34" charset="0"/>
                <a:ea typeface="Cambria" pitchFamily="34" charset="-122"/>
                <a:cs typeface="Cambria" pitchFamily="34" charset="-120"/>
              </a:rPr>
              <a:t>Data Cleaning Summary</a:t>
            </a:r>
            <a:endParaRPr lang="en-US" sz="3000" dirty="0"/>
          </a:p>
        </p:txBody>
      </p:sp>
      <p:sp>
        <p:nvSpPr>
          <p:cNvPr id="3" name="Text 1"/>
          <p:cNvSpPr/>
          <p:nvPr/>
        </p:nvSpPr>
        <p:spPr>
          <a:xfrm>
            <a:off x="457200" y="1143000"/>
            <a:ext cx="10881360" cy="1371600"/>
          </a:xfrm>
          <a:prstGeom prst="rect">
            <a:avLst/>
          </a:prstGeom>
          <a:noFill/>
          <a:ln/>
        </p:spPr>
        <p:txBody>
          <a:bodyPr wrap="square" rtlCol="0" anchor="ctr"/>
          <a:lstStyle/>
          <a:p>
            <a:pPr indent="0" marL="0">
              <a:lnSpc>
                <a:spcPct val="125000"/>
              </a:lnSpc>
              <a:buNone/>
            </a:pPr>
            <a:r>
              <a:rPr lang="en-US" sz="1450" dirty="0">
                <a:solidFill>
                  <a:srgbClr val="10243E"/>
                </a:solidFill>
                <a:latin typeface="Calibri" pitchFamily="34" charset="0"/>
                <a:ea typeface="Calibri" pitchFamily="34" charset="-122"/>
                <a:cs typeface="Calibri" pitchFamily="34" charset="-120"/>
              </a:rPr>
              <a:t>The raw dataset was inspected for missing values, blank entries, incorrect data types, and duplicates before analysis. TotalCharges was stored as text with 11 blank entries for new customers; these were converted to numeric and removed, leaving a clean, analysis-ready dataset.</a:t>
            </a:r>
            <a:endParaRPr lang="en-US" sz="1450" dirty="0"/>
          </a:p>
        </p:txBody>
      </p:sp>
      <p:sp>
        <p:nvSpPr>
          <p:cNvPr id="4" name="Shape 2"/>
          <p:cNvSpPr/>
          <p:nvPr/>
        </p:nvSpPr>
        <p:spPr>
          <a:xfrm>
            <a:off x="457200" y="2834640"/>
            <a:ext cx="2514600" cy="1737360"/>
          </a:xfrm>
          <a:prstGeom prst="roundRect">
            <a:avLst>
              <a:gd name="adj" fmla="val 6316"/>
            </a:avLst>
          </a:prstGeom>
          <a:solidFill>
            <a:srgbClr val="1C7293"/>
          </a:solidFill>
          <a:ln/>
        </p:spPr>
      </p:sp>
      <p:sp>
        <p:nvSpPr>
          <p:cNvPr id="5" name="Text 3"/>
          <p:cNvSpPr/>
          <p:nvPr/>
        </p:nvSpPr>
        <p:spPr>
          <a:xfrm>
            <a:off x="457200" y="3043123"/>
            <a:ext cx="2514600" cy="955548"/>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11</a:t>
            </a:r>
            <a:endParaRPr lang="en-US" sz="3000" dirty="0"/>
          </a:p>
        </p:txBody>
      </p:sp>
      <p:sp>
        <p:nvSpPr>
          <p:cNvPr id="6" name="Text 4"/>
          <p:cNvSpPr/>
          <p:nvPr/>
        </p:nvSpPr>
        <p:spPr>
          <a:xfrm>
            <a:off x="457200" y="3911803"/>
            <a:ext cx="2514600" cy="590702"/>
          </a:xfrm>
          <a:prstGeom prst="rect">
            <a:avLst/>
          </a:prstGeom>
          <a:noFill/>
          <a:ln/>
        </p:spPr>
        <p:txBody>
          <a:bodyPr wrap="square" rtlCol="0" anchor="ctr"/>
          <a:lstStyle/>
          <a:p>
            <a:pPr algn="ctr" indent="0" marL="0">
              <a:buNone/>
            </a:pPr>
            <a:r>
              <a:rPr lang="en-US" sz="1250" dirty="0">
                <a:solidFill>
                  <a:srgbClr val="EAF2FB"/>
                </a:solidFill>
                <a:latin typeface="Calibri" pitchFamily="34" charset="0"/>
                <a:ea typeface="Calibri" pitchFamily="34" charset="-122"/>
                <a:cs typeface="Calibri" pitchFamily="34" charset="-120"/>
              </a:rPr>
              <a:t>Blank TotalCharges</a:t>
            </a:r>
            <a:endParaRPr lang="en-US" sz="1250" dirty="0"/>
          </a:p>
          <a:p>
            <a:pPr algn="ctr" indent="0" marL="0">
              <a:buNone/>
            </a:pPr>
            <a:r>
              <a:rPr lang="en-US" sz="1250" dirty="0">
                <a:solidFill>
                  <a:srgbClr val="EAF2FB"/>
                </a:solidFill>
                <a:latin typeface="Calibri" pitchFamily="34" charset="0"/>
                <a:ea typeface="Calibri" pitchFamily="34" charset="-122"/>
                <a:cs typeface="Calibri" pitchFamily="34" charset="-120"/>
              </a:rPr>
              <a:t>Records Removed</a:t>
            </a:r>
            <a:endParaRPr lang="en-US" sz="1250" dirty="0"/>
          </a:p>
        </p:txBody>
      </p:sp>
      <p:sp>
        <p:nvSpPr>
          <p:cNvPr id="7" name="Shape 5"/>
          <p:cNvSpPr/>
          <p:nvPr/>
        </p:nvSpPr>
        <p:spPr>
          <a:xfrm>
            <a:off x="3227832" y="2834640"/>
            <a:ext cx="2514600" cy="1737360"/>
          </a:xfrm>
          <a:prstGeom prst="roundRect">
            <a:avLst>
              <a:gd name="adj" fmla="val 6316"/>
            </a:avLst>
          </a:prstGeom>
          <a:solidFill>
            <a:srgbClr val="13315C"/>
          </a:solidFill>
          <a:ln/>
        </p:spPr>
      </p:sp>
      <p:sp>
        <p:nvSpPr>
          <p:cNvPr id="8" name="Text 6"/>
          <p:cNvSpPr/>
          <p:nvPr/>
        </p:nvSpPr>
        <p:spPr>
          <a:xfrm>
            <a:off x="3227832" y="3043123"/>
            <a:ext cx="2514600" cy="955548"/>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9" name="Text 7"/>
          <p:cNvSpPr/>
          <p:nvPr/>
        </p:nvSpPr>
        <p:spPr>
          <a:xfrm>
            <a:off x="3227832" y="3911803"/>
            <a:ext cx="2514600" cy="590702"/>
          </a:xfrm>
          <a:prstGeom prst="rect">
            <a:avLst/>
          </a:prstGeom>
          <a:noFill/>
          <a:ln/>
        </p:spPr>
        <p:txBody>
          <a:bodyPr wrap="square" rtlCol="0" anchor="ctr"/>
          <a:lstStyle/>
          <a:p>
            <a:pPr algn="ctr" indent="0" marL="0">
              <a:buNone/>
            </a:pPr>
            <a:r>
              <a:rPr lang="en-US" sz="1250" dirty="0">
                <a:solidFill>
                  <a:srgbClr val="EAF2FB"/>
                </a:solidFill>
                <a:latin typeface="Calibri" pitchFamily="34" charset="0"/>
                <a:ea typeface="Calibri" pitchFamily="34" charset="-122"/>
                <a:cs typeface="Calibri" pitchFamily="34" charset="-120"/>
              </a:rPr>
              <a:t>Data Type</a:t>
            </a:r>
            <a:endParaRPr lang="en-US" sz="1250" dirty="0"/>
          </a:p>
          <a:p>
            <a:pPr algn="ctr" indent="0" marL="0">
              <a:buNone/>
            </a:pPr>
            <a:r>
              <a:rPr lang="en-US" sz="1250" dirty="0">
                <a:solidFill>
                  <a:srgbClr val="EAF2FB"/>
                </a:solidFill>
                <a:latin typeface="Calibri" pitchFamily="34" charset="0"/>
                <a:ea typeface="Calibri" pitchFamily="34" charset="-122"/>
                <a:cs typeface="Calibri" pitchFamily="34" charset="-120"/>
              </a:rPr>
              <a:t>Converted</a:t>
            </a:r>
            <a:endParaRPr lang="en-US" sz="1250" dirty="0"/>
          </a:p>
        </p:txBody>
      </p:sp>
      <p:sp>
        <p:nvSpPr>
          <p:cNvPr id="10" name="Shape 8"/>
          <p:cNvSpPr/>
          <p:nvPr/>
        </p:nvSpPr>
        <p:spPr>
          <a:xfrm>
            <a:off x="5998464" y="2834640"/>
            <a:ext cx="2514600" cy="1737360"/>
          </a:xfrm>
          <a:prstGeom prst="roundRect">
            <a:avLst>
              <a:gd name="adj" fmla="val 6316"/>
            </a:avLst>
          </a:prstGeom>
          <a:solidFill>
            <a:srgbClr val="5FA8D3"/>
          </a:solidFill>
          <a:ln/>
        </p:spPr>
      </p:sp>
      <p:sp>
        <p:nvSpPr>
          <p:cNvPr id="11" name="Text 9"/>
          <p:cNvSpPr/>
          <p:nvPr/>
        </p:nvSpPr>
        <p:spPr>
          <a:xfrm>
            <a:off x="5998464" y="3043123"/>
            <a:ext cx="2514600" cy="955548"/>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0</a:t>
            </a:r>
            <a:endParaRPr lang="en-US" sz="3000" dirty="0"/>
          </a:p>
        </p:txBody>
      </p:sp>
      <p:sp>
        <p:nvSpPr>
          <p:cNvPr id="12" name="Text 10"/>
          <p:cNvSpPr/>
          <p:nvPr/>
        </p:nvSpPr>
        <p:spPr>
          <a:xfrm>
            <a:off x="5998464" y="3911803"/>
            <a:ext cx="2514600" cy="590702"/>
          </a:xfrm>
          <a:prstGeom prst="rect">
            <a:avLst/>
          </a:prstGeom>
          <a:noFill/>
          <a:ln/>
        </p:spPr>
        <p:txBody>
          <a:bodyPr wrap="square" rtlCol="0" anchor="ctr"/>
          <a:lstStyle/>
          <a:p>
            <a:pPr algn="ctr" indent="0" marL="0">
              <a:buNone/>
            </a:pPr>
            <a:r>
              <a:rPr lang="en-US" sz="1250" dirty="0">
                <a:solidFill>
                  <a:srgbClr val="EAF2FB"/>
                </a:solidFill>
                <a:latin typeface="Calibri" pitchFamily="34" charset="0"/>
                <a:ea typeface="Calibri" pitchFamily="34" charset="-122"/>
                <a:cs typeface="Calibri" pitchFamily="34" charset="-120"/>
              </a:rPr>
              <a:t>Duplicate</a:t>
            </a:r>
            <a:endParaRPr lang="en-US" sz="1250" dirty="0"/>
          </a:p>
          <a:p>
            <a:pPr algn="ctr" indent="0" marL="0">
              <a:buNone/>
            </a:pPr>
            <a:r>
              <a:rPr lang="en-US" sz="1250" dirty="0">
                <a:solidFill>
                  <a:srgbClr val="EAF2FB"/>
                </a:solidFill>
                <a:latin typeface="Calibri" pitchFamily="34" charset="0"/>
                <a:ea typeface="Calibri" pitchFamily="34" charset="-122"/>
                <a:cs typeface="Calibri" pitchFamily="34" charset="-120"/>
              </a:rPr>
              <a:t>Records Found</a:t>
            </a:r>
            <a:endParaRPr lang="en-US" sz="1250" dirty="0"/>
          </a:p>
        </p:txBody>
      </p:sp>
      <p:sp>
        <p:nvSpPr>
          <p:cNvPr id="13" name="Shape 11"/>
          <p:cNvSpPr/>
          <p:nvPr/>
        </p:nvSpPr>
        <p:spPr>
          <a:xfrm>
            <a:off x="8769096" y="2834640"/>
            <a:ext cx="2514600" cy="1737360"/>
          </a:xfrm>
          <a:prstGeom prst="roundRect">
            <a:avLst>
              <a:gd name="adj" fmla="val 6316"/>
            </a:avLst>
          </a:prstGeom>
          <a:solidFill>
            <a:srgbClr val="1C7293"/>
          </a:solidFill>
          <a:ln/>
        </p:spPr>
      </p:sp>
      <p:sp>
        <p:nvSpPr>
          <p:cNvPr id="14" name="Text 12"/>
          <p:cNvSpPr/>
          <p:nvPr/>
        </p:nvSpPr>
        <p:spPr>
          <a:xfrm>
            <a:off x="8769096" y="3043123"/>
            <a:ext cx="2514600" cy="955548"/>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7,032</a:t>
            </a:r>
            <a:endParaRPr lang="en-US" sz="3000" dirty="0"/>
          </a:p>
        </p:txBody>
      </p:sp>
      <p:sp>
        <p:nvSpPr>
          <p:cNvPr id="15" name="Text 13"/>
          <p:cNvSpPr/>
          <p:nvPr/>
        </p:nvSpPr>
        <p:spPr>
          <a:xfrm>
            <a:off x="8769096" y="3911803"/>
            <a:ext cx="2514600" cy="590702"/>
          </a:xfrm>
          <a:prstGeom prst="rect">
            <a:avLst/>
          </a:prstGeom>
          <a:noFill/>
          <a:ln/>
        </p:spPr>
        <p:txBody>
          <a:bodyPr wrap="square" rtlCol="0" anchor="ctr"/>
          <a:lstStyle/>
          <a:p>
            <a:pPr algn="ctr" indent="0" marL="0">
              <a:buNone/>
            </a:pPr>
            <a:r>
              <a:rPr lang="en-US" sz="1250" dirty="0">
                <a:solidFill>
                  <a:srgbClr val="EAF2FB"/>
                </a:solidFill>
                <a:latin typeface="Calibri" pitchFamily="34" charset="0"/>
                <a:ea typeface="Calibri" pitchFamily="34" charset="-122"/>
                <a:cs typeface="Calibri" pitchFamily="34" charset="-120"/>
              </a:rPr>
              <a:t>Clean Records</a:t>
            </a:r>
            <a:endParaRPr lang="en-US" sz="1250" dirty="0"/>
          </a:p>
          <a:p>
            <a:pPr algn="ctr" indent="0" marL="0">
              <a:buNone/>
            </a:pPr>
            <a:r>
              <a:rPr lang="en-US" sz="1250" dirty="0">
                <a:solidFill>
                  <a:srgbClr val="EAF2FB"/>
                </a:solidFill>
                <a:latin typeface="Calibri" pitchFamily="34" charset="0"/>
                <a:ea typeface="Calibri" pitchFamily="34" charset="-122"/>
                <a:cs typeface="Calibri" pitchFamily="34" charset="-120"/>
              </a:rPr>
              <a:t>Ready for EDA</a:t>
            </a:r>
            <a:endParaRPr lang="en-US" sz="1250" dirty="0"/>
          </a:p>
        </p:txBody>
      </p:sp>
      <p:sp>
        <p:nvSpPr>
          <p:cNvPr id="16" name="Text 14"/>
          <p:cNvSpPr/>
          <p:nvPr/>
        </p:nvSpPr>
        <p:spPr>
          <a:xfrm>
            <a:off x="457200" y="5029200"/>
            <a:ext cx="10881360" cy="548640"/>
          </a:xfrm>
          <a:prstGeom prst="rect">
            <a:avLst/>
          </a:prstGeom>
          <a:noFill/>
          <a:ln/>
        </p:spPr>
        <p:txBody>
          <a:bodyPr wrap="square" rtlCol="0" anchor="ctr"/>
          <a:lstStyle/>
          <a:p>
            <a:pPr algn="ctr" indent="0" marL="0">
              <a:buNone/>
            </a:pPr>
            <a:r>
              <a:rPr lang="en-US" sz="1500" i="1" dirty="0">
                <a:solidFill>
                  <a:srgbClr val="1C7293"/>
                </a:solidFill>
                <a:latin typeface="Cambria" pitchFamily="34" charset="0"/>
                <a:ea typeface="Cambria" pitchFamily="34" charset="-122"/>
                <a:cs typeface="Cambria" pitchFamily="34" charset="-120"/>
              </a:rPr>
              <a:t>"High-quality analysis begins with high-quality data — and clean data builds trustworthy insights."</a:t>
            </a:r>
            <a:endParaRPr lang="en-US" sz="1500" dirty="0"/>
          </a:p>
        </p:txBody>
      </p:sp>
      <p:sp>
        <p:nvSpPr>
          <p:cNvPr id="17" name="Text 15"/>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9BA9B8"/>
                </a:solidFill>
                <a:latin typeface="Calibri" pitchFamily="34" charset="0"/>
                <a:ea typeface="Calibri" pitchFamily="34" charset="-122"/>
                <a:cs typeface="Calibri" pitchFamily="34" charset="-120"/>
              </a:rPr>
              <a:t>Customer Churn Analysis  |  Python &amp; SQL</a:t>
            </a:r>
            <a:endParaRPr lang="en-US" sz="900" dirty="0"/>
          </a:p>
        </p:txBody>
      </p:sp>
      <p:sp>
        <p:nvSpPr>
          <p:cNvPr id="18" name="Text 16"/>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9BA9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C"/>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algn="l" indent="0" marL="0">
              <a:buNone/>
            </a:pPr>
            <a:r>
              <a:rPr lang="en-US" sz="3000" b="1" dirty="0">
                <a:solidFill>
                  <a:srgbClr val="10243E"/>
                </a:solidFill>
                <a:latin typeface="Cambria" pitchFamily="34" charset="0"/>
                <a:ea typeface="Cambria" pitchFamily="34" charset="-122"/>
                <a:cs typeface="Cambria" pitchFamily="34" charset="-120"/>
              </a:rPr>
              <a:t>EDA: Overall Churn &amp; Contract Type</a:t>
            </a:r>
            <a:endParaRPr lang="en-US" sz="3000" dirty="0"/>
          </a:p>
        </p:txBody>
      </p:sp>
      <p:sp>
        <p:nvSpPr>
          <p:cNvPr id="3" name="Text 1"/>
          <p:cNvSpPr/>
          <p:nvPr/>
        </p:nvSpPr>
        <p:spPr>
          <a:xfrm>
            <a:off x="457200" y="960120"/>
            <a:ext cx="11247120" cy="457200"/>
          </a:xfrm>
          <a:prstGeom prst="rect">
            <a:avLst/>
          </a:prstGeom>
          <a:noFill/>
          <a:ln/>
        </p:spPr>
        <p:txBody>
          <a:bodyPr wrap="square"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Understanding how many customers churn, and how contract length affects retention.</a:t>
            </a:r>
            <a:endParaRPr lang="en-US" sz="1250" dirty="0"/>
          </a:p>
        </p:txBody>
      </p:sp>
      <p:sp>
        <p:nvSpPr>
          <p:cNvPr id="4" name="Shape 2"/>
          <p:cNvSpPr/>
          <p:nvPr/>
        </p:nvSpPr>
        <p:spPr>
          <a:xfrm>
            <a:off x="2619756" y="1508760"/>
            <a:ext cx="3246120" cy="2514600"/>
          </a:xfrm>
          <a:prstGeom prst="roundRect">
            <a:avLst>
              <a:gd name="adj" fmla="val 2909"/>
            </a:avLst>
          </a:prstGeom>
          <a:solidFill>
            <a:srgbClr val="FFFFFF"/>
          </a:solidFill>
          <a:ln w="12700">
            <a:solidFill>
              <a:srgbClr val="D8E3EE"/>
            </a:solidFill>
            <a:prstDash val="solid"/>
          </a:ln>
        </p:spPr>
      </p:sp>
      <p:pic>
        <p:nvPicPr>
          <p:cNvPr id="5" name="Image 0" descr="/home/claude/charts/chart_01.png">    </p:cNvPr>
          <p:cNvPicPr>
            <a:picLocks noChangeAspect="1"/>
          </p:cNvPicPr>
          <p:nvPr/>
        </p:nvPicPr>
        <p:blipFill>
          <a:blip r:embed="rId1"/>
          <a:srcRect l="0" r="0" t="0" b="0"/>
          <a:stretch/>
        </p:blipFill>
        <p:spPr>
          <a:xfrm>
            <a:off x="2711196" y="1600200"/>
            <a:ext cx="3063240" cy="2331720"/>
          </a:xfrm>
          <a:prstGeom prst="rect">
            <a:avLst/>
          </a:prstGeom>
        </p:spPr>
      </p:pic>
      <p:sp>
        <p:nvSpPr>
          <p:cNvPr id="6" name="Shape 3"/>
          <p:cNvSpPr/>
          <p:nvPr/>
        </p:nvSpPr>
        <p:spPr>
          <a:xfrm>
            <a:off x="6323076" y="1508760"/>
            <a:ext cx="3246120" cy="2514600"/>
          </a:xfrm>
          <a:prstGeom prst="roundRect">
            <a:avLst>
              <a:gd name="adj" fmla="val 2909"/>
            </a:avLst>
          </a:prstGeom>
          <a:solidFill>
            <a:srgbClr val="FFFFFF"/>
          </a:solidFill>
          <a:ln w="12700">
            <a:solidFill>
              <a:srgbClr val="D8E3EE"/>
            </a:solidFill>
            <a:prstDash val="solid"/>
          </a:ln>
        </p:spPr>
      </p:sp>
      <p:pic>
        <p:nvPicPr>
          <p:cNvPr id="7" name="Image 1" descr="/home/claude/charts/chart_03.png">    </p:cNvPr>
          <p:cNvPicPr>
            <a:picLocks noChangeAspect="1"/>
          </p:cNvPicPr>
          <p:nvPr/>
        </p:nvPicPr>
        <p:blipFill>
          <a:blip r:embed="rId2"/>
          <a:srcRect l="0" r="0" t="0" b="0"/>
          <a:stretch/>
        </p:blipFill>
        <p:spPr>
          <a:xfrm>
            <a:off x="6414516" y="1600200"/>
            <a:ext cx="3063240" cy="2331720"/>
          </a:xfrm>
          <a:prstGeom prst="rect">
            <a:avLst/>
          </a:prstGeom>
        </p:spPr>
      </p:pic>
      <p:sp>
        <p:nvSpPr>
          <p:cNvPr id="8" name="Text 4"/>
          <p:cNvSpPr/>
          <p:nvPr/>
        </p:nvSpPr>
        <p:spPr>
          <a:xfrm>
            <a:off x="2619756" y="4206240"/>
            <a:ext cx="3246120" cy="1920240"/>
          </a:xfrm>
          <a:prstGeom prst="rect">
            <a:avLst/>
          </a:prstGeom>
          <a:noFill/>
          <a:ln/>
        </p:spPr>
        <p:txBody>
          <a:bodyPr wrap="square" rtlCol="0" anchor="t"/>
          <a:lstStyle/>
          <a:p>
            <a:pPr indent="0" marL="0">
              <a:lnSpc>
                <a:spcPct val="115000"/>
              </a:lnSpc>
              <a:buNone/>
            </a:pPr>
            <a:r>
              <a:rPr lang="en-US" sz="1100" b="1" dirty="0">
                <a:solidFill>
                  <a:srgbClr val="1C7293"/>
                </a:solidFill>
                <a:latin typeface="Calibri" pitchFamily="34" charset="0"/>
                <a:ea typeface="Calibri" pitchFamily="34" charset="-122"/>
                <a:cs typeface="Calibri" pitchFamily="34" charset="-120"/>
              </a:rPr>
              <a:t>Insight: </a:t>
            </a:r>
            <a:pPr indent="0" marL="0">
              <a:lnSpc>
                <a:spcPct val="115000"/>
              </a:lnSpc>
              <a:buNone/>
            </a:pPr>
            <a:r>
              <a:rPr lang="en-US" sz="1100" dirty="0">
                <a:solidFill>
                  <a:srgbClr val="10243E"/>
                </a:solidFill>
                <a:latin typeface="Calibri" pitchFamily="34" charset="0"/>
                <a:ea typeface="Calibri" pitchFamily="34" charset="-122"/>
                <a:cs typeface="Calibri" pitchFamily="34" charset="-120"/>
              </a:rPr>
              <a:t>26.58% of customers churned (1,869 of 7,032). Nearly 1 in 4 customers left the company.</a:t>
            </a:r>
            <a:endParaRPr lang="en-US" sz="1100" dirty="0"/>
          </a:p>
        </p:txBody>
      </p:sp>
      <p:sp>
        <p:nvSpPr>
          <p:cNvPr id="9" name="Text 5"/>
          <p:cNvSpPr/>
          <p:nvPr/>
        </p:nvSpPr>
        <p:spPr>
          <a:xfrm>
            <a:off x="6323076" y="4206240"/>
            <a:ext cx="3246120" cy="1920240"/>
          </a:xfrm>
          <a:prstGeom prst="rect">
            <a:avLst/>
          </a:prstGeom>
          <a:noFill/>
          <a:ln/>
        </p:spPr>
        <p:txBody>
          <a:bodyPr wrap="square" rtlCol="0" anchor="t"/>
          <a:lstStyle/>
          <a:p>
            <a:pPr indent="0" marL="0">
              <a:lnSpc>
                <a:spcPct val="115000"/>
              </a:lnSpc>
              <a:buNone/>
            </a:pPr>
            <a:r>
              <a:rPr lang="en-US" sz="1100" b="1" dirty="0">
                <a:solidFill>
                  <a:srgbClr val="1C7293"/>
                </a:solidFill>
                <a:latin typeface="Calibri" pitchFamily="34" charset="0"/>
                <a:ea typeface="Calibri" pitchFamily="34" charset="-122"/>
                <a:cs typeface="Calibri" pitchFamily="34" charset="-120"/>
              </a:rPr>
              <a:t>Insight: </a:t>
            </a:r>
            <a:pPr indent="0" marL="0">
              <a:lnSpc>
                <a:spcPct val="115000"/>
              </a:lnSpc>
              <a:buNone/>
            </a:pPr>
            <a:r>
              <a:rPr lang="en-US" sz="1100" dirty="0">
                <a:solidFill>
                  <a:srgbClr val="10243E"/>
                </a:solidFill>
                <a:latin typeface="Calibri" pitchFamily="34" charset="0"/>
                <a:ea typeface="Calibri" pitchFamily="34" charset="-122"/>
                <a:cs typeface="Calibri" pitchFamily="34" charset="-120"/>
              </a:rPr>
              <a:t>Month-to-month customers churn far more (1,655) than one-year (166) or two-year (48) contract holders.</a:t>
            </a:r>
            <a:endParaRPr lang="en-US" sz="1100" dirty="0"/>
          </a:p>
        </p:txBody>
      </p:sp>
      <p:sp>
        <p:nvSpPr>
          <p:cNvPr id="10" name="Text 6"/>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9BA9B8"/>
                </a:solidFill>
                <a:latin typeface="Calibri" pitchFamily="34" charset="0"/>
                <a:ea typeface="Calibri" pitchFamily="34" charset="-122"/>
                <a:cs typeface="Calibri" pitchFamily="34" charset="-120"/>
              </a:rPr>
              <a:t>Customer Churn Analysis  |  Python &amp; SQL</a:t>
            </a:r>
            <a:endParaRPr lang="en-US" sz="900" dirty="0"/>
          </a:p>
        </p:txBody>
      </p:sp>
      <p:sp>
        <p:nvSpPr>
          <p:cNvPr id="11" name="Text 7"/>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9BA9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C"/>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algn="l" indent="0" marL="0">
              <a:buNone/>
            </a:pPr>
            <a:r>
              <a:rPr lang="en-US" sz="3000" b="1" dirty="0">
                <a:solidFill>
                  <a:srgbClr val="10243E"/>
                </a:solidFill>
                <a:latin typeface="Cambria" pitchFamily="34" charset="0"/>
                <a:ea typeface="Cambria" pitchFamily="34" charset="-122"/>
                <a:cs typeface="Cambria" pitchFamily="34" charset="-120"/>
              </a:rPr>
              <a:t>EDA: Tenure &amp; Monthly Charges</a:t>
            </a:r>
            <a:endParaRPr lang="en-US" sz="3000" dirty="0"/>
          </a:p>
        </p:txBody>
      </p:sp>
      <p:sp>
        <p:nvSpPr>
          <p:cNvPr id="3" name="Text 1"/>
          <p:cNvSpPr/>
          <p:nvPr/>
        </p:nvSpPr>
        <p:spPr>
          <a:xfrm>
            <a:off x="457200" y="960120"/>
            <a:ext cx="11247120" cy="457200"/>
          </a:xfrm>
          <a:prstGeom prst="rect">
            <a:avLst/>
          </a:prstGeom>
          <a:noFill/>
          <a:ln/>
        </p:spPr>
        <p:txBody>
          <a:bodyPr wrap="square"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Comparing customer loyalty duration and spending between churned and retained customers.</a:t>
            </a:r>
            <a:endParaRPr lang="en-US" sz="1250" dirty="0"/>
          </a:p>
        </p:txBody>
      </p:sp>
      <p:sp>
        <p:nvSpPr>
          <p:cNvPr id="4" name="Shape 2"/>
          <p:cNvSpPr/>
          <p:nvPr/>
        </p:nvSpPr>
        <p:spPr>
          <a:xfrm>
            <a:off x="2619756" y="1508760"/>
            <a:ext cx="3246120" cy="2514600"/>
          </a:xfrm>
          <a:prstGeom prst="roundRect">
            <a:avLst>
              <a:gd name="adj" fmla="val 2909"/>
            </a:avLst>
          </a:prstGeom>
          <a:solidFill>
            <a:srgbClr val="FFFFFF"/>
          </a:solidFill>
          <a:ln w="12700">
            <a:solidFill>
              <a:srgbClr val="D8E3EE"/>
            </a:solidFill>
            <a:prstDash val="solid"/>
          </a:ln>
        </p:spPr>
      </p:sp>
      <p:pic>
        <p:nvPicPr>
          <p:cNvPr id="5" name="Image 0" descr="/home/claude/charts/chart_04.png">    </p:cNvPr>
          <p:cNvPicPr>
            <a:picLocks noChangeAspect="1"/>
          </p:cNvPicPr>
          <p:nvPr/>
        </p:nvPicPr>
        <p:blipFill>
          <a:blip r:embed="rId1"/>
          <a:srcRect l="0" r="0" t="0" b="0"/>
          <a:stretch/>
        </p:blipFill>
        <p:spPr>
          <a:xfrm>
            <a:off x="2711196" y="1600200"/>
            <a:ext cx="3063240" cy="2331720"/>
          </a:xfrm>
          <a:prstGeom prst="rect">
            <a:avLst/>
          </a:prstGeom>
        </p:spPr>
      </p:pic>
      <p:sp>
        <p:nvSpPr>
          <p:cNvPr id="6" name="Shape 3"/>
          <p:cNvSpPr/>
          <p:nvPr/>
        </p:nvSpPr>
        <p:spPr>
          <a:xfrm>
            <a:off x="6323076" y="1508760"/>
            <a:ext cx="3246120" cy="2514600"/>
          </a:xfrm>
          <a:prstGeom prst="roundRect">
            <a:avLst>
              <a:gd name="adj" fmla="val 2909"/>
            </a:avLst>
          </a:prstGeom>
          <a:solidFill>
            <a:srgbClr val="FFFFFF"/>
          </a:solidFill>
          <a:ln w="12700">
            <a:solidFill>
              <a:srgbClr val="D8E3EE"/>
            </a:solidFill>
            <a:prstDash val="solid"/>
          </a:ln>
        </p:spPr>
      </p:sp>
      <p:pic>
        <p:nvPicPr>
          <p:cNvPr id="7" name="Image 1" descr="/home/claude/charts/chart_05.png">    </p:cNvPr>
          <p:cNvPicPr>
            <a:picLocks noChangeAspect="1"/>
          </p:cNvPicPr>
          <p:nvPr/>
        </p:nvPicPr>
        <p:blipFill>
          <a:blip r:embed="rId2"/>
          <a:srcRect l="0" r="0" t="0" b="0"/>
          <a:stretch/>
        </p:blipFill>
        <p:spPr>
          <a:xfrm>
            <a:off x="6414516" y="1600200"/>
            <a:ext cx="3063240" cy="2331720"/>
          </a:xfrm>
          <a:prstGeom prst="rect">
            <a:avLst/>
          </a:prstGeom>
        </p:spPr>
      </p:pic>
      <p:sp>
        <p:nvSpPr>
          <p:cNvPr id="8" name="Text 4"/>
          <p:cNvSpPr/>
          <p:nvPr/>
        </p:nvSpPr>
        <p:spPr>
          <a:xfrm>
            <a:off x="2619756" y="4206240"/>
            <a:ext cx="3246120" cy="1920240"/>
          </a:xfrm>
          <a:prstGeom prst="rect">
            <a:avLst/>
          </a:prstGeom>
          <a:noFill/>
          <a:ln/>
        </p:spPr>
        <p:txBody>
          <a:bodyPr wrap="square" rtlCol="0" anchor="t"/>
          <a:lstStyle/>
          <a:p>
            <a:pPr indent="0" marL="0">
              <a:lnSpc>
                <a:spcPct val="115000"/>
              </a:lnSpc>
              <a:buNone/>
            </a:pPr>
            <a:r>
              <a:rPr lang="en-US" sz="1100" b="1" dirty="0">
                <a:solidFill>
                  <a:srgbClr val="1C7293"/>
                </a:solidFill>
                <a:latin typeface="Calibri" pitchFamily="34" charset="0"/>
                <a:ea typeface="Calibri" pitchFamily="34" charset="-122"/>
                <a:cs typeface="Calibri" pitchFamily="34" charset="-120"/>
              </a:rPr>
              <a:t>Insight: </a:t>
            </a:r>
            <a:pPr indent="0" marL="0">
              <a:lnSpc>
                <a:spcPct val="115000"/>
              </a:lnSpc>
              <a:buNone/>
            </a:pPr>
            <a:r>
              <a:rPr lang="en-US" sz="1100" dirty="0">
                <a:solidFill>
                  <a:srgbClr val="10243E"/>
                </a:solidFill>
                <a:latin typeface="Calibri" pitchFamily="34" charset="0"/>
                <a:ea typeface="Calibri" pitchFamily="34" charset="-122"/>
                <a:cs typeface="Calibri" pitchFamily="34" charset="-120"/>
              </a:rPr>
              <a:t>Churned customers have far shorter tenure (avg 17.98 months) vs. retained customers (avg 37.65 months).</a:t>
            </a:r>
            <a:endParaRPr lang="en-US" sz="1100" dirty="0"/>
          </a:p>
        </p:txBody>
      </p:sp>
      <p:sp>
        <p:nvSpPr>
          <p:cNvPr id="9" name="Text 5"/>
          <p:cNvSpPr/>
          <p:nvPr/>
        </p:nvSpPr>
        <p:spPr>
          <a:xfrm>
            <a:off x="6323076" y="4206240"/>
            <a:ext cx="3246120" cy="1920240"/>
          </a:xfrm>
          <a:prstGeom prst="rect">
            <a:avLst/>
          </a:prstGeom>
          <a:noFill/>
          <a:ln/>
        </p:spPr>
        <p:txBody>
          <a:bodyPr wrap="square" rtlCol="0" anchor="t"/>
          <a:lstStyle/>
          <a:p>
            <a:pPr indent="0" marL="0">
              <a:lnSpc>
                <a:spcPct val="115000"/>
              </a:lnSpc>
              <a:buNone/>
            </a:pPr>
            <a:r>
              <a:rPr lang="en-US" sz="1100" b="1" dirty="0">
                <a:solidFill>
                  <a:srgbClr val="1C7293"/>
                </a:solidFill>
                <a:latin typeface="Calibri" pitchFamily="34" charset="0"/>
                <a:ea typeface="Calibri" pitchFamily="34" charset="-122"/>
                <a:cs typeface="Calibri" pitchFamily="34" charset="-120"/>
              </a:rPr>
              <a:t>Insight: </a:t>
            </a:r>
            <a:pPr indent="0" marL="0">
              <a:lnSpc>
                <a:spcPct val="115000"/>
              </a:lnSpc>
              <a:buNone/>
            </a:pPr>
            <a:r>
              <a:rPr lang="en-US" sz="1100" dirty="0">
                <a:solidFill>
                  <a:srgbClr val="10243E"/>
                </a:solidFill>
                <a:latin typeface="Calibri" pitchFamily="34" charset="0"/>
                <a:ea typeface="Calibri" pitchFamily="34" charset="-122"/>
                <a:cs typeface="Calibri" pitchFamily="34" charset="-120"/>
              </a:rPr>
              <a:t>Churned customers pay higher monthly charges on average ($74.44) than retained customers ($61.31).</a:t>
            </a:r>
            <a:endParaRPr lang="en-US" sz="1100" dirty="0"/>
          </a:p>
        </p:txBody>
      </p:sp>
      <p:sp>
        <p:nvSpPr>
          <p:cNvPr id="10" name="Text 6"/>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9BA9B8"/>
                </a:solidFill>
                <a:latin typeface="Calibri" pitchFamily="34" charset="0"/>
                <a:ea typeface="Calibri" pitchFamily="34" charset="-122"/>
                <a:cs typeface="Calibri" pitchFamily="34" charset="-120"/>
              </a:rPr>
              <a:t>Customer Churn Analysis  |  Python &amp; SQL</a:t>
            </a:r>
            <a:endParaRPr lang="en-US" sz="900" dirty="0"/>
          </a:p>
        </p:txBody>
      </p:sp>
      <p:sp>
        <p:nvSpPr>
          <p:cNvPr id="11" name="Text 7"/>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9BA9B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C"/>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algn="l" indent="0" marL="0">
              <a:buNone/>
            </a:pPr>
            <a:r>
              <a:rPr lang="en-US" sz="3000" b="1" dirty="0">
                <a:solidFill>
                  <a:srgbClr val="10243E"/>
                </a:solidFill>
                <a:latin typeface="Cambria" pitchFamily="34" charset="0"/>
                <a:ea typeface="Cambria" pitchFamily="34" charset="-122"/>
                <a:cs typeface="Cambria" pitchFamily="34" charset="-120"/>
              </a:rPr>
              <a:t>EDA: Payment Method &amp; Internet Service</a:t>
            </a:r>
            <a:endParaRPr lang="en-US" sz="3000" dirty="0"/>
          </a:p>
        </p:txBody>
      </p:sp>
      <p:sp>
        <p:nvSpPr>
          <p:cNvPr id="3" name="Text 1"/>
          <p:cNvSpPr/>
          <p:nvPr/>
        </p:nvSpPr>
        <p:spPr>
          <a:xfrm>
            <a:off x="457200" y="960120"/>
            <a:ext cx="11247120" cy="457200"/>
          </a:xfrm>
          <a:prstGeom prst="rect">
            <a:avLst/>
          </a:prstGeom>
          <a:noFill/>
          <a:ln/>
        </p:spPr>
        <p:txBody>
          <a:bodyPr wrap="square"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Examining how billing method and service type relate to churn.</a:t>
            </a:r>
            <a:endParaRPr lang="en-US" sz="1250" dirty="0"/>
          </a:p>
        </p:txBody>
      </p:sp>
      <p:sp>
        <p:nvSpPr>
          <p:cNvPr id="4" name="Shape 2"/>
          <p:cNvSpPr/>
          <p:nvPr/>
        </p:nvSpPr>
        <p:spPr>
          <a:xfrm>
            <a:off x="2619756" y="1508760"/>
            <a:ext cx="3246120" cy="2514600"/>
          </a:xfrm>
          <a:prstGeom prst="roundRect">
            <a:avLst>
              <a:gd name="adj" fmla="val 2909"/>
            </a:avLst>
          </a:prstGeom>
          <a:solidFill>
            <a:srgbClr val="FFFFFF"/>
          </a:solidFill>
          <a:ln w="12700">
            <a:solidFill>
              <a:srgbClr val="D8E3EE"/>
            </a:solidFill>
            <a:prstDash val="solid"/>
          </a:ln>
        </p:spPr>
      </p:sp>
      <p:pic>
        <p:nvPicPr>
          <p:cNvPr id="5" name="Image 0" descr="/home/claude/charts/chart_06.png">    </p:cNvPr>
          <p:cNvPicPr>
            <a:picLocks noChangeAspect="1"/>
          </p:cNvPicPr>
          <p:nvPr/>
        </p:nvPicPr>
        <p:blipFill>
          <a:blip r:embed="rId1"/>
          <a:srcRect l="0" r="0" t="0" b="0"/>
          <a:stretch/>
        </p:blipFill>
        <p:spPr>
          <a:xfrm>
            <a:off x="2711196" y="1600200"/>
            <a:ext cx="3063240" cy="2331720"/>
          </a:xfrm>
          <a:prstGeom prst="rect">
            <a:avLst/>
          </a:prstGeom>
        </p:spPr>
      </p:pic>
      <p:sp>
        <p:nvSpPr>
          <p:cNvPr id="6" name="Shape 3"/>
          <p:cNvSpPr/>
          <p:nvPr/>
        </p:nvSpPr>
        <p:spPr>
          <a:xfrm>
            <a:off x="6323076" y="1508760"/>
            <a:ext cx="3246120" cy="2514600"/>
          </a:xfrm>
          <a:prstGeom prst="roundRect">
            <a:avLst>
              <a:gd name="adj" fmla="val 2909"/>
            </a:avLst>
          </a:prstGeom>
          <a:solidFill>
            <a:srgbClr val="FFFFFF"/>
          </a:solidFill>
          <a:ln w="12700">
            <a:solidFill>
              <a:srgbClr val="D8E3EE"/>
            </a:solidFill>
            <a:prstDash val="solid"/>
          </a:ln>
        </p:spPr>
      </p:sp>
      <p:pic>
        <p:nvPicPr>
          <p:cNvPr id="7" name="Image 1" descr="/home/claude/charts/chart_07.png">    </p:cNvPr>
          <p:cNvPicPr>
            <a:picLocks noChangeAspect="1"/>
          </p:cNvPicPr>
          <p:nvPr/>
        </p:nvPicPr>
        <p:blipFill>
          <a:blip r:embed="rId2"/>
          <a:srcRect l="0" r="0" t="0" b="0"/>
          <a:stretch/>
        </p:blipFill>
        <p:spPr>
          <a:xfrm>
            <a:off x="6414516" y="1600200"/>
            <a:ext cx="3063240" cy="2331720"/>
          </a:xfrm>
          <a:prstGeom prst="rect">
            <a:avLst/>
          </a:prstGeom>
        </p:spPr>
      </p:pic>
      <p:sp>
        <p:nvSpPr>
          <p:cNvPr id="8" name="Text 4"/>
          <p:cNvSpPr/>
          <p:nvPr/>
        </p:nvSpPr>
        <p:spPr>
          <a:xfrm>
            <a:off x="2619756" y="4206240"/>
            <a:ext cx="3246120" cy="1920240"/>
          </a:xfrm>
          <a:prstGeom prst="rect">
            <a:avLst/>
          </a:prstGeom>
          <a:noFill/>
          <a:ln/>
        </p:spPr>
        <p:txBody>
          <a:bodyPr wrap="square" rtlCol="0" anchor="t"/>
          <a:lstStyle/>
          <a:p>
            <a:pPr indent="0" marL="0">
              <a:lnSpc>
                <a:spcPct val="115000"/>
              </a:lnSpc>
              <a:buNone/>
            </a:pPr>
            <a:r>
              <a:rPr lang="en-US" sz="1100" b="1" dirty="0">
                <a:solidFill>
                  <a:srgbClr val="1C7293"/>
                </a:solidFill>
                <a:latin typeface="Calibri" pitchFamily="34" charset="0"/>
                <a:ea typeface="Calibri" pitchFamily="34" charset="-122"/>
                <a:cs typeface="Calibri" pitchFamily="34" charset="-120"/>
              </a:rPr>
              <a:t>Insight: </a:t>
            </a:r>
            <a:pPr indent="0" marL="0">
              <a:lnSpc>
                <a:spcPct val="115000"/>
              </a:lnSpc>
              <a:buNone/>
            </a:pPr>
            <a:r>
              <a:rPr lang="en-US" sz="1100" dirty="0">
                <a:solidFill>
                  <a:srgbClr val="10243E"/>
                </a:solidFill>
                <a:latin typeface="Calibri" pitchFamily="34" charset="0"/>
                <a:ea typeface="Calibri" pitchFamily="34" charset="-122"/>
                <a:cs typeface="Calibri" pitchFamily="34" charset="-120"/>
              </a:rPr>
              <a:t>Electronic check users churn the most (1,071) — far above automatic payment methods.</a:t>
            </a:r>
            <a:endParaRPr lang="en-US" sz="1100" dirty="0"/>
          </a:p>
        </p:txBody>
      </p:sp>
      <p:sp>
        <p:nvSpPr>
          <p:cNvPr id="9" name="Text 5"/>
          <p:cNvSpPr/>
          <p:nvPr/>
        </p:nvSpPr>
        <p:spPr>
          <a:xfrm>
            <a:off x="6323076" y="4206240"/>
            <a:ext cx="3246120" cy="1920240"/>
          </a:xfrm>
          <a:prstGeom prst="rect">
            <a:avLst/>
          </a:prstGeom>
          <a:noFill/>
          <a:ln/>
        </p:spPr>
        <p:txBody>
          <a:bodyPr wrap="square" rtlCol="0" anchor="t"/>
          <a:lstStyle/>
          <a:p>
            <a:pPr indent="0" marL="0">
              <a:lnSpc>
                <a:spcPct val="115000"/>
              </a:lnSpc>
              <a:buNone/>
            </a:pPr>
            <a:r>
              <a:rPr lang="en-US" sz="1100" b="1" dirty="0">
                <a:solidFill>
                  <a:srgbClr val="1C7293"/>
                </a:solidFill>
                <a:latin typeface="Calibri" pitchFamily="34" charset="0"/>
                <a:ea typeface="Calibri" pitchFamily="34" charset="-122"/>
                <a:cs typeface="Calibri" pitchFamily="34" charset="-120"/>
              </a:rPr>
              <a:t>Insight: </a:t>
            </a:r>
            <a:pPr indent="0" marL="0">
              <a:lnSpc>
                <a:spcPct val="115000"/>
              </a:lnSpc>
              <a:buNone/>
            </a:pPr>
            <a:r>
              <a:rPr lang="en-US" sz="1100" dirty="0">
                <a:solidFill>
                  <a:srgbClr val="10243E"/>
                </a:solidFill>
                <a:latin typeface="Calibri" pitchFamily="34" charset="0"/>
                <a:ea typeface="Calibri" pitchFamily="34" charset="-122"/>
                <a:cs typeface="Calibri" pitchFamily="34" charset="-120"/>
              </a:rPr>
              <a:t>Fiber optic customers churn most (1,297), suggesting pricing or service-quality concerns.</a:t>
            </a:r>
            <a:endParaRPr lang="en-US" sz="1100" dirty="0"/>
          </a:p>
        </p:txBody>
      </p:sp>
      <p:sp>
        <p:nvSpPr>
          <p:cNvPr id="10" name="Text 6"/>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9BA9B8"/>
                </a:solidFill>
                <a:latin typeface="Calibri" pitchFamily="34" charset="0"/>
                <a:ea typeface="Calibri" pitchFamily="34" charset="-122"/>
                <a:cs typeface="Calibri" pitchFamily="34" charset="-120"/>
              </a:rPr>
              <a:t>Customer Churn Analysis  |  Python &amp; SQL</a:t>
            </a:r>
            <a:endParaRPr lang="en-US" sz="900" dirty="0"/>
          </a:p>
        </p:txBody>
      </p:sp>
      <p:sp>
        <p:nvSpPr>
          <p:cNvPr id="11" name="Text 7"/>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9BA9B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C"/>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algn="l" indent="0" marL="0">
              <a:buNone/>
            </a:pPr>
            <a:r>
              <a:rPr lang="en-US" sz="3000" b="1" dirty="0">
                <a:solidFill>
                  <a:srgbClr val="10243E"/>
                </a:solidFill>
                <a:latin typeface="Cambria" pitchFamily="34" charset="0"/>
                <a:ea typeface="Cambria" pitchFamily="34" charset="-122"/>
                <a:cs typeface="Cambria" pitchFamily="34" charset="-120"/>
              </a:rPr>
              <a:t>EDA: Customer Profile</a:t>
            </a:r>
            <a:endParaRPr lang="en-US" sz="3000" dirty="0"/>
          </a:p>
        </p:txBody>
      </p:sp>
      <p:sp>
        <p:nvSpPr>
          <p:cNvPr id="3" name="Text 1"/>
          <p:cNvSpPr/>
          <p:nvPr/>
        </p:nvSpPr>
        <p:spPr>
          <a:xfrm>
            <a:off x="457200" y="960120"/>
            <a:ext cx="11247120" cy="457200"/>
          </a:xfrm>
          <a:prstGeom prst="rect">
            <a:avLst/>
          </a:prstGeom>
          <a:noFill/>
          <a:ln/>
        </p:spPr>
        <p:txBody>
          <a:bodyPr wrap="square"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Exploring how demographic and household factors influence churn behavior.</a:t>
            </a:r>
            <a:endParaRPr lang="en-US" sz="1250" dirty="0"/>
          </a:p>
        </p:txBody>
      </p:sp>
      <p:sp>
        <p:nvSpPr>
          <p:cNvPr id="4" name="Shape 2"/>
          <p:cNvSpPr/>
          <p:nvPr/>
        </p:nvSpPr>
        <p:spPr>
          <a:xfrm>
            <a:off x="2619756" y="1508760"/>
            <a:ext cx="3246120" cy="2514600"/>
          </a:xfrm>
          <a:prstGeom prst="roundRect">
            <a:avLst>
              <a:gd name="adj" fmla="val 2909"/>
            </a:avLst>
          </a:prstGeom>
          <a:solidFill>
            <a:srgbClr val="FFFFFF"/>
          </a:solidFill>
          <a:ln w="12700">
            <a:solidFill>
              <a:srgbClr val="D8E3EE"/>
            </a:solidFill>
            <a:prstDash val="solid"/>
          </a:ln>
        </p:spPr>
      </p:sp>
      <p:pic>
        <p:nvPicPr>
          <p:cNvPr id="5" name="Image 0" descr="/home/claude/charts/chart_08.png">    </p:cNvPr>
          <p:cNvPicPr>
            <a:picLocks noChangeAspect="1"/>
          </p:cNvPicPr>
          <p:nvPr/>
        </p:nvPicPr>
        <p:blipFill>
          <a:blip r:embed="rId1"/>
          <a:srcRect l="0" r="0" t="0" b="0"/>
          <a:stretch/>
        </p:blipFill>
        <p:spPr>
          <a:xfrm>
            <a:off x="2711196" y="1600200"/>
            <a:ext cx="3063240" cy="2331720"/>
          </a:xfrm>
          <a:prstGeom prst="rect">
            <a:avLst/>
          </a:prstGeom>
        </p:spPr>
      </p:pic>
      <p:sp>
        <p:nvSpPr>
          <p:cNvPr id="6" name="Shape 3"/>
          <p:cNvSpPr/>
          <p:nvPr/>
        </p:nvSpPr>
        <p:spPr>
          <a:xfrm>
            <a:off x="6323076" y="1508760"/>
            <a:ext cx="3246120" cy="2514600"/>
          </a:xfrm>
          <a:prstGeom prst="roundRect">
            <a:avLst>
              <a:gd name="adj" fmla="val 2909"/>
            </a:avLst>
          </a:prstGeom>
          <a:solidFill>
            <a:srgbClr val="FFFFFF"/>
          </a:solidFill>
          <a:ln w="12700">
            <a:solidFill>
              <a:srgbClr val="D8E3EE"/>
            </a:solidFill>
            <a:prstDash val="solid"/>
          </a:ln>
        </p:spPr>
      </p:sp>
      <p:pic>
        <p:nvPicPr>
          <p:cNvPr id="7" name="Image 1" descr="/home/claude/charts/chart_09.png">    </p:cNvPr>
          <p:cNvPicPr>
            <a:picLocks noChangeAspect="1"/>
          </p:cNvPicPr>
          <p:nvPr/>
        </p:nvPicPr>
        <p:blipFill>
          <a:blip r:embed="rId2"/>
          <a:srcRect l="0" r="0" t="0" b="0"/>
          <a:stretch/>
        </p:blipFill>
        <p:spPr>
          <a:xfrm>
            <a:off x="6414516" y="1600200"/>
            <a:ext cx="3063240" cy="2331720"/>
          </a:xfrm>
          <a:prstGeom prst="rect">
            <a:avLst/>
          </a:prstGeom>
        </p:spPr>
      </p:pic>
      <p:sp>
        <p:nvSpPr>
          <p:cNvPr id="8" name="Text 4"/>
          <p:cNvSpPr/>
          <p:nvPr/>
        </p:nvSpPr>
        <p:spPr>
          <a:xfrm>
            <a:off x="2619756" y="4206240"/>
            <a:ext cx="3246120" cy="1920240"/>
          </a:xfrm>
          <a:prstGeom prst="rect">
            <a:avLst/>
          </a:prstGeom>
          <a:noFill/>
          <a:ln/>
        </p:spPr>
        <p:txBody>
          <a:bodyPr wrap="square" rtlCol="0" anchor="t"/>
          <a:lstStyle/>
          <a:p>
            <a:pPr indent="0" marL="0">
              <a:lnSpc>
                <a:spcPct val="115000"/>
              </a:lnSpc>
              <a:buNone/>
            </a:pPr>
            <a:r>
              <a:rPr lang="en-US" sz="1100" b="1" dirty="0">
                <a:solidFill>
                  <a:srgbClr val="1C7293"/>
                </a:solidFill>
                <a:latin typeface="Calibri" pitchFamily="34" charset="0"/>
                <a:ea typeface="Calibri" pitchFamily="34" charset="-122"/>
                <a:cs typeface="Calibri" pitchFamily="34" charset="-120"/>
              </a:rPr>
              <a:t>Insight: </a:t>
            </a:r>
            <a:pPr indent="0" marL="0">
              <a:lnSpc>
                <a:spcPct val="115000"/>
              </a:lnSpc>
              <a:buNone/>
            </a:pPr>
            <a:r>
              <a:rPr lang="en-US" sz="1100" dirty="0">
                <a:solidFill>
                  <a:srgbClr val="10243E"/>
                </a:solidFill>
                <a:latin typeface="Calibri" pitchFamily="34" charset="0"/>
                <a:ea typeface="Calibri" pitchFamily="34" charset="-122"/>
                <a:cs typeface="Calibri" pitchFamily="34" charset="-120"/>
              </a:rPr>
              <a:t>Senior citizens churn at a higher relative rate than non-senior customers.</a:t>
            </a:r>
            <a:endParaRPr lang="en-US" sz="1100" dirty="0"/>
          </a:p>
        </p:txBody>
      </p:sp>
      <p:sp>
        <p:nvSpPr>
          <p:cNvPr id="9" name="Text 5"/>
          <p:cNvSpPr/>
          <p:nvPr/>
        </p:nvSpPr>
        <p:spPr>
          <a:xfrm>
            <a:off x="6323076" y="4206240"/>
            <a:ext cx="3246120" cy="1920240"/>
          </a:xfrm>
          <a:prstGeom prst="rect">
            <a:avLst/>
          </a:prstGeom>
          <a:noFill/>
          <a:ln/>
        </p:spPr>
        <p:txBody>
          <a:bodyPr wrap="square" rtlCol="0" anchor="t"/>
          <a:lstStyle/>
          <a:p>
            <a:pPr indent="0" marL="0">
              <a:lnSpc>
                <a:spcPct val="115000"/>
              </a:lnSpc>
              <a:buNone/>
            </a:pPr>
            <a:r>
              <a:rPr lang="en-US" sz="1100" b="1" dirty="0">
                <a:solidFill>
                  <a:srgbClr val="1C7293"/>
                </a:solidFill>
                <a:latin typeface="Calibri" pitchFamily="34" charset="0"/>
                <a:ea typeface="Calibri" pitchFamily="34" charset="-122"/>
                <a:cs typeface="Calibri" pitchFamily="34" charset="-120"/>
              </a:rPr>
              <a:t>Insight: </a:t>
            </a:r>
            <a:pPr indent="0" marL="0">
              <a:lnSpc>
                <a:spcPct val="115000"/>
              </a:lnSpc>
              <a:buNone/>
            </a:pPr>
            <a:r>
              <a:rPr lang="en-US" sz="1100" dirty="0">
                <a:solidFill>
                  <a:srgbClr val="10243E"/>
                </a:solidFill>
                <a:latin typeface="Calibri" pitchFamily="34" charset="0"/>
                <a:ea typeface="Calibri" pitchFamily="34" charset="-122"/>
                <a:cs typeface="Calibri" pitchFamily="34" charset="-120"/>
              </a:rPr>
              <a:t>Customers without a partner churn more (1,200) than those with a partner (669).</a:t>
            </a:r>
            <a:endParaRPr lang="en-US" sz="1100" dirty="0"/>
          </a:p>
        </p:txBody>
      </p:sp>
      <p:sp>
        <p:nvSpPr>
          <p:cNvPr id="10" name="Text 6"/>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9BA9B8"/>
                </a:solidFill>
                <a:latin typeface="Calibri" pitchFamily="34" charset="0"/>
                <a:ea typeface="Calibri" pitchFamily="34" charset="-122"/>
                <a:cs typeface="Calibri" pitchFamily="34" charset="-120"/>
              </a:rPr>
              <a:t>Customer Churn Analysis  |  Python &amp; SQL</a:t>
            </a:r>
            <a:endParaRPr lang="en-US" sz="900" dirty="0"/>
          </a:p>
        </p:txBody>
      </p:sp>
      <p:sp>
        <p:nvSpPr>
          <p:cNvPr id="11" name="Text 7"/>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9BA9B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algn="l" indent="0" marL="0">
              <a:buNone/>
            </a:pPr>
            <a:r>
              <a:rPr lang="en-US" sz="3000" b="1" dirty="0">
                <a:solidFill>
                  <a:srgbClr val="10243E"/>
                </a:solidFill>
                <a:latin typeface="Cambria" pitchFamily="34" charset="0"/>
                <a:ea typeface="Cambria" pitchFamily="34" charset="-122"/>
                <a:cs typeface="Cambria" pitchFamily="34" charset="-120"/>
              </a:rPr>
              <a:t>Correlation Analysis</a:t>
            </a:r>
            <a:endParaRPr lang="en-US" sz="3000" dirty="0"/>
          </a:p>
        </p:txBody>
      </p:sp>
      <p:sp>
        <p:nvSpPr>
          <p:cNvPr id="3" name="Text 1"/>
          <p:cNvSpPr/>
          <p:nvPr/>
        </p:nvSpPr>
        <p:spPr>
          <a:xfrm>
            <a:off x="457200" y="960120"/>
            <a:ext cx="11247120" cy="365760"/>
          </a:xfrm>
          <a:prstGeom prst="rect">
            <a:avLst/>
          </a:prstGeom>
          <a:noFill/>
          <a:ln/>
        </p:spPr>
        <p:txBody>
          <a:bodyPr wrap="square"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Relationships between key numerical features in the dataset.</a:t>
            </a:r>
            <a:endParaRPr lang="en-US" sz="1250" dirty="0"/>
          </a:p>
        </p:txBody>
      </p:sp>
      <p:sp>
        <p:nvSpPr>
          <p:cNvPr id="4" name="Shape 2"/>
          <p:cNvSpPr/>
          <p:nvPr/>
        </p:nvSpPr>
        <p:spPr>
          <a:xfrm>
            <a:off x="548640" y="1463040"/>
            <a:ext cx="5120640" cy="4572000"/>
          </a:xfrm>
          <a:prstGeom prst="roundRect">
            <a:avLst>
              <a:gd name="adj" fmla="val 1600"/>
            </a:avLst>
          </a:prstGeom>
          <a:solidFill>
            <a:srgbClr val="F4F8FC"/>
          </a:solidFill>
          <a:ln w="12700">
            <a:solidFill>
              <a:srgbClr val="D8E3EE"/>
            </a:solidFill>
            <a:prstDash val="solid"/>
          </a:ln>
        </p:spPr>
      </p:sp>
      <p:pic>
        <p:nvPicPr>
          <p:cNvPr id="5" name="Image 0" descr="/home/claude/charts/chart_10.png">    </p:cNvPr>
          <p:cNvPicPr>
            <a:picLocks noChangeAspect="1"/>
          </p:cNvPicPr>
          <p:nvPr/>
        </p:nvPicPr>
        <p:blipFill>
          <a:blip r:embed="rId1"/>
          <a:srcRect l="0" r="0" t="0" b="0"/>
          <a:stretch/>
        </p:blipFill>
        <p:spPr>
          <a:xfrm>
            <a:off x="777240" y="1691640"/>
            <a:ext cx="4663440" cy="4114800"/>
          </a:xfrm>
          <a:prstGeom prst="rect">
            <a:avLst/>
          </a:prstGeom>
        </p:spPr>
      </p:pic>
      <p:sp>
        <p:nvSpPr>
          <p:cNvPr id="6" name="Text 3"/>
          <p:cNvSpPr/>
          <p:nvPr/>
        </p:nvSpPr>
        <p:spPr>
          <a:xfrm>
            <a:off x="5943600" y="1645920"/>
            <a:ext cx="5760720" cy="4206240"/>
          </a:xfrm>
          <a:prstGeom prst="rect">
            <a:avLst/>
          </a:prstGeom>
          <a:noFill/>
          <a:ln/>
        </p:spPr>
        <p:txBody>
          <a:bodyPr wrap="square" rtlCol="0" anchor="t"/>
          <a:lstStyle/>
          <a:p>
            <a:pPr indent="0" marL="0">
              <a:lnSpc>
                <a:spcPct val="130000"/>
              </a:lnSpc>
              <a:buNone/>
            </a:pPr>
            <a:r>
              <a:rPr lang="en-US" sz="1400" b="1" dirty="0">
                <a:solidFill>
                  <a:srgbClr val="1C7293"/>
                </a:solidFill>
                <a:latin typeface="Calibri" pitchFamily="34" charset="0"/>
                <a:ea typeface="Calibri" pitchFamily="34" charset="-122"/>
                <a:cs typeface="Calibri" pitchFamily="34" charset="-120"/>
              </a:rPr>
              <a:t>Tenure ↔ TotalCharges: </a:t>
            </a:r>
            <a:endParaRPr lang="en-US" sz="1400" dirty="0"/>
          </a:p>
          <a:p>
            <a:pPr indent="0" marL="0">
              <a:lnSpc>
                <a:spcPct val="130000"/>
              </a:lnSpc>
              <a:buNone/>
            </a:pPr>
            <a:r>
              <a:rPr lang="en-US" sz="1400" dirty="0">
                <a:solidFill>
                  <a:srgbClr val="10243E"/>
                </a:solidFill>
                <a:latin typeface="Calibri" pitchFamily="34" charset="0"/>
                <a:ea typeface="Calibri" pitchFamily="34" charset="-122"/>
                <a:cs typeface="Calibri" pitchFamily="34" charset="-120"/>
              </a:rPr>
              <a:t>Strong positive correlation (0.83) — customers who stay longer accumulate higher total charges, as expected.
</a:t>
            </a:r>
            <a:endParaRPr lang="en-US" sz="1400" dirty="0"/>
          </a:p>
          <a:p>
            <a:pPr indent="0" marL="0">
              <a:lnSpc>
                <a:spcPct val="130000"/>
              </a:lnSpc>
              <a:buNone/>
            </a:pPr>
            <a:r>
              <a:rPr lang="en-US" sz="1400" b="1" dirty="0">
                <a:solidFill>
                  <a:srgbClr val="1C7293"/>
                </a:solidFill>
                <a:latin typeface="Calibri" pitchFamily="34" charset="0"/>
                <a:ea typeface="Calibri" pitchFamily="34" charset="-122"/>
                <a:cs typeface="Calibri" pitchFamily="34" charset="-120"/>
              </a:rPr>
              <a:t>MonthlyCharges ↔ TotalCharges: </a:t>
            </a:r>
            <a:endParaRPr lang="en-US" sz="1400" dirty="0"/>
          </a:p>
          <a:p>
            <a:pPr indent="0" marL="0">
              <a:lnSpc>
                <a:spcPct val="130000"/>
              </a:lnSpc>
              <a:buNone/>
            </a:pPr>
            <a:r>
              <a:rPr lang="en-US" sz="1400" dirty="0">
                <a:solidFill>
                  <a:srgbClr val="10243E"/>
                </a:solidFill>
                <a:latin typeface="Calibri" pitchFamily="34" charset="0"/>
                <a:ea typeface="Calibri" pitchFamily="34" charset="-122"/>
                <a:cs typeface="Calibri" pitchFamily="34" charset="-120"/>
              </a:rPr>
              <a:t>Moderate positive relationship, driven largely by tenure.
</a:t>
            </a:r>
            <a:endParaRPr lang="en-US" sz="1400" dirty="0"/>
          </a:p>
          <a:p>
            <a:pPr indent="0" marL="0">
              <a:lnSpc>
                <a:spcPct val="130000"/>
              </a:lnSpc>
              <a:buNone/>
            </a:pPr>
            <a:r>
              <a:rPr lang="en-US" sz="1400" b="1" dirty="0">
                <a:solidFill>
                  <a:srgbClr val="1C7293"/>
                </a:solidFill>
                <a:latin typeface="Calibri" pitchFamily="34" charset="0"/>
                <a:ea typeface="Calibri" pitchFamily="34" charset="-122"/>
                <a:cs typeface="Calibri" pitchFamily="34" charset="-120"/>
              </a:rPr>
              <a:t>SeniorCitizen: </a:t>
            </a:r>
            <a:endParaRPr lang="en-US" sz="1400" dirty="0"/>
          </a:p>
          <a:p>
            <a:pPr indent="0" marL="0">
              <a:lnSpc>
                <a:spcPct val="130000"/>
              </a:lnSpc>
              <a:buNone/>
            </a:pPr>
            <a:r>
              <a:rPr lang="en-US" sz="1400" dirty="0">
                <a:solidFill>
                  <a:srgbClr val="10243E"/>
                </a:solidFill>
                <a:latin typeface="Calibri" pitchFamily="34" charset="0"/>
                <a:ea typeface="Calibri" pitchFamily="34" charset="-122"/>
                <a:cs typeface="Calibri" pitchFamily="34" charset="-120"/>
              </a:rPr>
              <a:t>Shows no strong correlation with the other numerical features.</a:t>
            </a:r>
            <a:endParaRPr lang="en-US" sz="1400" dirty="0"/>
          </a:p>
        </p:txBody>
      </p:sp>
      <p:sp>
        <p:nvSpPr>
          <p:cNvPr id="7" name="Text 4"/>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9BA9B8"/>
                </a:solidFill>
                <a:latin typeface="Calibri" pitchFamily="34" charset="0"/>
                <a:ea typeface="Calibri" pitchFamily="34" charset="-122"/>
                <a:cs typeface="Calibri" pitchFamily="34" charset="-120"/>
              </a:rPr>
              <a:t>Customer Churn Analysis  |  Python &amp; SQL</a:t>
            </a:r>
            <a:endParaRPr lang="en-US" sz="900" dirty="0"/>
          </a:p>
        </p:txBody>
      </p:sp>
      <p:sp>
        <p:nvSpPr>
          <p:cNvPr id="8" name="Text 5"/>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9BA9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457200" y="320040"/>
            <a:ext cx="109728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SQL Business Insights</a:t>
            </a:r>
            <a:endParaRPr lang="en-US" sz="3000" dirty="0"/>
          </a:p>
        </p:txBody>
      </p:sp>
      <p:sp>
        <p:nvSpPr>
          <p:cNvPr id="3" name="Text 1"/>
          <p:cNvSpPr/>
          <p:nvPr/>
        </p:nvSpPr>
        <p:spPr>
          <a:xfrm>
            <a:off x="457200" y="960120"/>
            <a:ext cx="10972800" cy="365760"/>
          </a:xfrm>
          <a:prstGeom prst="rect">
            <a:avLst/>
          </a:prstGeom>
          <a:noFill/>
          <a:ln/>
        </p:spPr>
        <p:txBody>
          <a:bodyPr wrap="square" rtlCol="0" anchor="ctr"/>
          <a:lstStyle/>
          <a:p>
            <a:pPr indent="0" marL="0">
              <a:buNone/>
            </a:pPr>
            <a:r>
              <a:rPr lang="en-US" sz="1250" i="1" dirty="0">
                <a:solidFill>
                  <a:srgbClr val="8FB8DE"/>
                </a:solidFill>
                <a:latin typeface="Calibri" pitchFamily="34" charset="0"/>
                <a:ea typeface="Calibri" pitchFamily="34" charset="-122"/>
                <a:cs typeface="Calibri" pitchFamily="34" charset="-120"/>
              </a:rPr>
              <a:t>Key metrics extracted through SQL queries on the cleaned dataset.</a:t>
            </a:r>
            <a:endParaRPr lang="en-US" sz="1250" dirty="0"/>
          </a:p>
        </p:txBody>
      </p:sp>
      <p:sp>
        <p:nvSpPr>
          <p:cNvPr id="4" name="Shape 2"/>
          <p:cNvSpPr/>
          <p:nvPr/>
        </p:nvSpPr>
        <p:spPr>
          <a:xfrm>
            <a:off x="457200" y="1600200"/>
            <a:ext cx="2606040" cy="1554480"/>
          </a:xfrm>
          <a:prstGeom prst="roundRect">
            <a:avLst>
              <a:gd name="adj" fmla="val 7059"/>
            </a:avLst>
          </a:prstGeom>
          <a:solidFill>
            <a:srgbClr val="13315C"/>
          </a:solidFill>
          <a:ln/>
        </p:spPr>
      </p:sp>
      <p:sp>
        <p:nvSpPr>
          <p:cNvPr id="5" name="Text 3"/>
          <p:cNvSpPr/>
          <p:nvPr/>
        </p:nvSpPr>
        <p:spPr>
          <a:xfrm>
            <a:off x="457200" y="1786738"/>
            <a:ext cx="2606040" cy="854964"/>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7,032</a:t>
            </a:r>
            <a:endParaRPr lang="en-US" sz="2600" dirty="0"/>
          </a:p>
        </p:txBody>
      </p:sp>
      <p:sp>
        <p:nvSpPr>
          <p:cNvPr id="6" name="Text 4"/>
          <p:cNvSpPr/>
          <p:nvPr/>
        </p:nvSpPr>
        <p:spPr>
          <a:xfrm>
            <a:off x="457200" y="2563978"/>
            <a:ext cx="2606040" cy="528523"/>
          </a:xfrm>
          <a:prstGeom prst="rect">
            <a:avLst/>
          </a:prstGeom>
          <a:noFill/>
          <a:ln/>
        </p:spPr>
        <p:txBody>
          <a:bodyPr wrap="square" rtlCol="0" anchor="ctr"/>
          <a:lstStyle/>
          <a:p>
            <a:pPr algn="ctr" indent="0" marL="0">
              <a:buNone/>
            </a:pPr>
            <a:r>
              <a:rPr lang="en-US" sz="1150" dirty="0">
                <a:solidFill>
                  <a:srgbClr val="8FB8DE"/>
                </a:solidFill>
                <a:latin typeface="Calibri" pitchFamily="34" charset="0"/>
                <a:ea typeface="Calibri" pitchFamily="34" charset="-122"/>
                <a:cs typeface="Calibri" pitchFamily="34" charset="-120"/>
              </a:rPr>
              <a:t>Total Customers</a:t>
            </a:r>
            <a:endParaRPr lang="en-US" sz="1150" dirty="0"/>
          </a:p>
          <a:p>
            <a:pPr algn="ctr" indent="0" marL="0">
              <a:buNone/>
            </a:pPr>
            <a:r>
              <a:rPr lang="en-US" sz="1150" dirty="0">
                <a:solidFill>
                  <a:srgbClr val="8FB8DE"/>
                </a:solidFill>
                <a:latin typeface="Calibri" pitchFamily="34" charset="0"/>
                <a:ea typeface="Calibri" pitchFamily="34" charset="-122"/>
                <a:cs typeface="Calibri" pitchFamily="34" charset="-120"/>
              </a:rPr>
              <a:t>Analyzed</a:t>
            </a:r>
            <a:endParaRPr lang="en-US" sz="1150" dirty="0"/>
          </a:p>
        </p:txBody>
      </p:sp>
      <p:sp>
        <p:nvSpPr>
          <p:cNvPr id="7" name="Shape 5"/>
          <p:cNvSpPr/>
          <p:nvPr/>
        </p:nvSpPr>
        <p:spPr>
          <a:xfrm>
            <a:off x="3319272" y="1600200"/>
            <a:ext cx="2606040" cy="1554480"/>
          </a:xfrm>
          <a:prstGeom prst="roundRect">
            <a:avLst>
              <a:gd name="adj" fmla="val 7059"/>
            </a:avLst>
          </a:prstGeom>
          <a:solidFill>
            <a:srgbClr val="13315C"/>
          </a:solidFill>
          <a:ln/>
        </p:spPr>
      </p:sp>
      <p:sp>
        <p:nvSpPr>
          <p:cNvPr id="8" name="Text 6"/>
          <p:cNvSpPr/>
          <p:nvPr/>
        </p:nvSpPr>
        <p:spPr>
          <a:xfrm>
            <a:off x="3319272" y="1786738"/>
            <a:ext cx="2606040" cy="854964"/>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26.58%</a:t>
            </a:r>
            <a:endParaRPr lang="en-US" sz="2600" dirty="0"/>
          </a:p>
        </p:txBody>
      </p:sp>
      <p:sp>
        <p:nvSpPr>
          <p:cNvPr id="9" name="Text 7"/>
          <p:cNvSpPr/>
          <p:nvPr/>
        </p:nvSpPr>
        <p:spPr>
          <a:xfrm>
            <a:off x="3319272" y="2563978"/>
            <a:ext cx="2606040" cy="528523"/>
          </a:xfrm>
          <a:prstGeom prst="rect">
            <a:avLst/>
          </a:prstGeom>
          <a:noFill/>
          <a:ln/>
        </p:spPr>
        <p:txBody>
          <a:bodyPr wrap="square" rtlCol="0" anchor="ctr"/>
          <a:lstStyle/>
          <a:p>
            <a:pPr algn="ctr" indent="0" marL="0">
              <a:buNone/>
            </a:pPr>
            <a:r>
              <a:rPr lang="en-US" sz="1150" dirty="0">
                <a:solidFill>
                  <a:srgbClr val="8FB8DE"/>
                </a:solidFill>
                <a:latin typeface="Calibri" pitchFamily="34" charset="0"/>
                <a:ea typeface="Calibri" pitchFamily="34" charset="-122"/>
                <a:cs typeface="Calibri" pitchFamily="34" charset="-120"/>
              </a:rPr>
              <a:t>Overall Churn</a:t>
            </a:r>
            <a:endParaRPr lang="en-US" sz="1150" dirty="0"/>
          </a:p>
          <a:p>
            <a:pPr algn="ctr" indent="0" marL="0">
              <a:buNone/>
            </a:pPr>
            <a:r>
              <a:rPr lang="en-US" sz="1150" dirty="0">
                <a:solidFill>
                  <a:srgbClr val="8FB8DE"/>
                </a:solidFill>
                <a:latin typeface="Calibri" pitchFamily="34" charset="0"/>
                <a:ea typeface="Calibri" pitchFamily="34" charset="-122"/>
                <a:cs typeface="Calibri" pitchFamily="34" charset="-120"/>
              </a:rPr>
              <a:t>Rate</a:t>
            </a:r>
            <a:endParaRPr lang="en-US" sz="1150" dirty="0"/>
          </a:p>
        </p:txBody>
      </p:sp>
      <p:sp>
        <p:nvSpPr>
          <p:cNvPr id="10" name="Shape 8"/>
          <p:cNvSpPr/>
          <p:nvPr/>
        </p:nvSpPr>
        <p:spPr>
          <a:xfrm>
            <a:off x="6181344" y="1600200"/>
            <a:ext cx="2606040" cy="1554480"/>
          </a:xfrm>
          <a:prstGeom prst="roundRect">
            <a:avLst>
              <a:gd name="adj" fmla="val 7059"/>
            </a:avLst>
          </a:prstGeom>
          <a:solidFill>
            <a:srgbClr val="13315C"/>
          </a:solidFill>
          <a:ln/>
        </p:spPr>
      </p:sp>
      <p:sp>
        <p:nvSpPr>
          <p:cNvPr id="11" name="Text 9"/>
          <p:cNvSpPr/>
          <p:nvPr/>
        </p:nvSpPr>
        <p:spPr>
          <a:xfrm>
            <a:off x="6181344" y="1786738"/>
            <a:ext cx="2606040" cy="854964"/>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$64.80</a:t>
            </a:r>
            <a:endParaRPr lang="en-US" sz="2600" dirty="0"/>
          </a:p>
        </p:txBody>
      </p:sp>
      <p:sp>
        <p:nvSpPr>
          <p:cNvPr id="12" name="Text 10"/>
          <p:cNvSpPr/>
          <p:nvPr/>
        </p:nvSpPr>
        <p:spPr>
          <a:xfrm>
            <a:off x="6181344" y="2563978"/>
            <a:ext cx="2606040" cy="528523"/>
          </a:xfrm>
          <a:prstGeom prst="rect">
            <a:avLst/>
          </a:prstGeom>
          <a:noFill/>
          <a:ln/>
        </p:spPr>
        <p:txBody>
          <a:bodyPr wrap="square" rtlCol="0" anchor="ctr"/>
          <a:lstStyle/>
          <a:p>
            <a:pPr algn="ctr" indent="0" marL="0">
              <a:buNone/>
            </a:pPr>
            <a:r>
              <a:rPr lang="en-US" sz="1150" dirty="0">
                <a:solidFill>
                  <a:srgbClr val="8FB8DE"/>
                </a:solidFill>
                <a:latin typeface="Calibri" pitchFamily="34" charset="0"/>
                <a:ea typeface="Calibri" pitchFamily="34" charset="-122"/>
                <a:cs typeface="Calibri" pitchFamily="34" charset="-120"/>
              </a:rPr>
              <a:t>Avg Monthly</a:t>
            </a:r>
            <a:endParaRPr lang="en-US" sz="1150" dirty="0"/>
          </a:p>
          <a:p>
            <a:pPr algn="ctr" indent="0" marL="0">
              <a:buNone/>
            </a:pPr>
            <a:r>
              <a:rPr lang="en-US" sz="1150" dirty="0">
                <a:solidFill>
                  <a:srgbClr val="8FB8DE"/>
                </a:solidFill>
                <a:latin typeface="Calibri" pitchFamily="34" charset="0"/>
                <a:ea typeface="Calibri" pitchFamily="34" charset="-122"/>
                <a:cs typeface="Calibri" pitchFamily="34" charset="-120"/>
              </a:rPr>
              <a:t>Charges</a:t>
            </a:r>
            <a:endParaRPr lang="en-US" sz="1150" dirty="0"/>
          </a:p>
        </p:txBody>
      </p:sp>
      <p:sp>
        <p:nvSpPr>
          <p:cNvPr id="13" name="Shape 11"/>
          <p:cNvSpPr/>
          <p:nvPr/>
        </p:nvSpPr>
        <p:spPr>
          <a:xfrm>
            <a:off x="9043416" y="1600200"/>
            <a:ext cx="2606040" cy="1554480"/>
          </a:xfrm>
          <a:prstGeom prst="roundRect">
            <a:avLst>
              <a:gd name="adj" fmla="val 7059"/>
            </a:avLst>
          </a:prstGeom>
          <a:solidFill>
            <a:srgbClr val="13315C"/>
          </a:solidFill>
          <a:ln/>
        </p:spPr>
      </p:sp>
      <p:sp>
        <p:nvSpPr>
          <p:cNvPr id="14" name="Text 12"/>
          <p:cNvSpPr/>
          <p:nvPr/>
        </p:nvSpPr>
        <p:spPr>
          <a:xfrm>
            <a:off x="9043416" y="1786738"/>
            <a:ext cx="2606040" cy="854964"/>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$76.26</a:t>
            </a:r>
            <a:endParaRPr lang="en-US" sz="2600" dirty="0"/>
          </a:p>
        </p:txBody>
      </p:sp>
      <p:sp>
        <p:nvSpPr>
          <p:cNvPr id="15" name="Text 13"/>
          <p:cNvSpPr/>
          <p:nvPr/>
        </p:nvSpPr>
        <p:spPr>
          <a:xfrm>
            <a:off x="9043416" y="2563978"/>
            <a:ext cx="2606040" cy="528523"/>
          </a:xfrm>
          <a:prstGeom prst="rect">
            <a:avLst/>
          </a:prstGeom>
          <a:noFill/>
          <a:ln/>
        </p:spPr>
        <p:txBody>
          <a:bodyPr wrap="square" rtlCol="0" anchor="ctr"/>
          <a:lstStyle/>
          <a:p>
            <a:pPr algn="ctr" indent="0" marL="0">
              <a:buNone/>
            </a:pPr>
            <a:r>
              <a:rPr lang="en-US" sz="1150" dirty="0">
                <a:solidFill>
                  <a:srgbClr val="8FB8DE"/>
                </a:solidFill>
                <a:latin typeface="Calibri" pitchFamily="34" charset="0"/>
                <a:ea typeface="Calibri" pitchFamily="34" charset="-122"/>
                <a:cs typeface="Calibri" pitchFamily="34" charset="-120"/>
              </a:rPr>
              <a:t>Highest Avg Charge:</a:t>
            </a:r>
            <a:endParaRPr lang="en-US" sz="1150" dirty="0"/>
          </a:p>
          <a:p>
            <a:pPr algn="ctr" indent="0" marL="0">
              <a:buNone/>
            </a:pPr>
            <a:r>
              <a:rPr lang="en-US" sz="1150" dirty="0">
                <a:solidFill>
                  <a:srgbClr val="8FB8DE"/>
                </a:solidFill>
                <a:latin typeface="Calibri" pitchFamily="34" charset="0"/>
                <a:ea typeface="Calibri" pitchFamily="34" charset="-122"/>
                <a:cs typeface="Calibri" pitchFamily="34" charset="-120"/>
              </a:rPr>
              <a:t>Electronic Check</a:t>
            </a:r>
            <a:endParaRPr lang="en-US" sz="1150" dirty="0"/>
          </a:p>
        </p:txBody>
      </p:sp>
      <p:sp>
        <p:nvSpPr>
          <p:cNvPr id="16" name="Shape 14"/>
          <p:cNvSpPr/>
          <p:nvPr/>
        </p:nvSpPr>
        <p:spPr>
          <a:xfrm>
            <a:off x="457200" y="3429000"/>
            <a:ext cx="5440680" cy="2651760"/>
          </a:xfrm>
          <a:prstGeom prst="roundRect">
            <a:avLst>
              <a:gd name="adj" fmla="val 3448"/>
            </a:avLst>
          </a:prstGeom>
          <a:solidFill>
            <a:srgbClr val="13315C"/>
          </a:solidFill>
          <a:ln/>
        </p:spPr>
      </p:sp>
      <p:sp>
        <p:nvSpPr>
          <p:cNvPr id="17" name="Text 15"/>
          <p:cNvSpPr/>
          <p:nvPr/>
        </p:nvSpPr>
        <p:spPr>
          <a:xfrm>
            <a:off x="731520" y="3611880"/>
            <a:ext cx="4937760" cy="365760"/>
          </a:xfrm>
          <a:prstGeom prst="rect">
            <a:avLst/>
          </a:prstGeom>
          <a:noFill/>
          <a:ln/>
        </p:spPr>
        <p:txBody>
          <a:bodyPr wrap="square" rtlCol="0" anchor="ctr"/>
          <a:lstStyle/>
          <a:p>
            <a:pPr indent="0" marL="0">
              <a:buNone/>
            </a:pPr>
            <a:r>
              <a:rPr lang="en-US" sz="1500" b="1" dirty="0">
                <a:solidFill>
                  <a:srgbClr val="5FA8D3"/>
                </a:solidFill>
                <a:latin typeface="Cambria" pitchFamily="34" charset="0"/>
                <a:ea typeface="Cambria" pitchFamily="34" charset="-122"/>
                <a:cs typeface="Cambria" pitchFamily="34" charset="-120"/>
              </a:rPr>
              <a:t>Contract Type Drives Churn</a:t>
            </a:r>
            <a:endParaRPr lang="en-US" sz="1500" dirty="0"/>
          </a:p>
        </p:txBody>
      </p:sp>
      <p:sp>
        <p:nvSpPr>
          <p:cNvPr id="18" name="Text 16"/>
          <p:cNvSpPr/>
          <p:nvPr/>
        </p:nvSpPr>
        <p:spPr>
          <a:xfrm>
            <a:off x="731520" y="4023360"/>
            <a:ext cx="4937760" cy="1920240"/>
          </a:xfrm>
          <a:prstGeom prst="rect">
            <a:avLst/>
          </a:prstGeom>
          <a:noFill/>
          <a:ln/>
        </p:spPr>
        <p:txBody>
          <a:bodyPr wrap="square" rtlCol="0" anchor="ctr"/>
          <a:lstStyle/>
          <a:p>
            <a:pPr indent="0" marL="0">
              <a:lnSpc>
                <a:spcPct val="125000"/>
              </a:lnSpc>
              <a:buNone/>
            </a:pPr>
            <a:r>
              <a:rPr lang="en-US" sz="1250" dirty="0">
                <a:solidFill>
                  <a:srgbClr val="EAF2FB"/>
                </a:solidFill>
                <a:latin typeface="Calibri" pitchFamily="34" charset="0"/>
                <a:ea typeface="Calibri" pitchFamily="34" charset="-122"/>
                <a:cs typeface="Calibri" pitchFamily="34" charset="-120"/>
              </a:rPr>
              <a:t>Month-to-month customers accounted for 1,655 churned accounts — dramatically higher than one-year (166) and two-year (48) contracts. Longer commitments strongly correlate with retention.</a:t>
            </a:r>
            <a:endParaRPr lang="en-US" sz="1250" dirty="0"/>
          </a:p>
        </p:txBody>
      </p:sp>
      <p:sp>
        <p:nvSpPr>
          <p:cNvPr id="19" name="Shape 17"/>
          <p:cNvSpPr/>
          <p:nvPr/>
        </p:nvSpPr>
        <p:spPr>
          <a:xfrm>
            <a:off x="6263640" y="3429000"/>
            <a:ext cx="5440680" cy="2651760"/>
          </a:xfrm>
          <a:prstGeom prst="roundRect">
            <a:avLst>
              <a:gd name="adj" fmla="val 3448"/>
            </a:avLst>
          </a:prstGeom>
          <a:solidFill>
            <a:srgbClr val="13315C"/>
          </a:solidFill>
          <a:ln/>
        </p:spPr>
      </p:sp>
      <p:sp>
        <p:nvSpPr>
          <p:cNvPr id="20" name="Text 18"/>
          <p:cNvSpPr/>
          <p:nvPr/>
        </p:nvSpPr>
        <p:spPr>
          <a:xfrm>
            <a:off x="6537960" y="3611880"/>
            <a:ext cx="4937760" cy="365760"/>
          </a:xfrm>
          <a:prstGeom prst="rect">
            <a:avLst/>
          </a:prstGeom>
          <a:noFill/>
          <a:ln/>
        </p:spPr>
        <p:txBody>
          <a:bodyPr wrap="square" rtlCol="0" anchor="ctr"/>
          <a:lstStyle/>
          <a:p>
            <a:pPr indent="0" marL="0">
              <a:buNone/>
            </a:pPr>
            <a:r>
              <a:rPr lang="en-US" sz="1500" b="1" dirty="0">
                <a:solidFill>
                  <a:srgbClr val="5FA8D3"/>
                </a:solidFill>
                <a:latin typeface="Cambria" pitchFamily="34" charset="0"/>
                <a:ea typeface="Cambria" pitchFamily="34" charset="-122"/>
                <a:cs typeface="Cambria" pitchFamily="34" charset="-120"/>
              </a:rPr>
              <a:t>Top Customers Ranked by Value</a:t>
            </a:r>
            <a:endParaRPr lang="en-US" sz="1500" dirty="0"/>
          </a:p>
        </p:txBody>
      </p:sp>
      <p:sp>
        <p:nvSpPr>
          <p:cNvPr id="21" name="Text 19"/>
          <p:cNvSpPr/>
          <p:nvPr/>
        </p:nvSpPr>
        <p:spPr>
          <a:xfrm>
            <a:off x="6537960" y="4023360"/>
            <a:ext cx="4937760" cy="1920240"/>
          </a:xfrm>
          <a:prstGeom prst="rect">
            <a:avLst/>
          </a:prstGeom>
          <a:noFill/>
          <a:ln/>
        </p:spPr>
        <p:txBody>
          <a:bodyPr wrap="square" rtlCol="0" anchor="ctr"/>
          <a:lstStyle/>
          <a:p>
            <a:pPr indent="0" marL="0">
              <a:lnSpc>
                <a:spcPct val="125000"/>
              </a:lnSpc>
              <a:buNone/>
            </a:pPr>
            <a:r>
              <a:rPr lang="en-US" sz="1250" dirty="0">
                <a:solidFill>
                  <a:srgbClr val="EAF2FB"/>
                </a:solidFill>
                <a:latin typeface="Calibri" pitchFamily="34" charset="0"/>
                <a:ea typeface="Calibri" pitchFamily="34" charset="-122"/>
                <a:cs typeface="Calibri" pitchFamily="34" charset="-120"/>
              </a:rPr>
              <a:t>Using SQL window functions (RANK), top customers by total charges were identified overall and within each contract type — e.g. customer 2889-FPWRM leads with $8,684.80 — enabling targeted loyalty efforts for high-value accounts.</a:t>
            </a:r>
            <a:endParaRPr lang="en-US" sz="1250" dirty="0"/>
          </a:p>
        </p:txBody>
      </p:sp>
      <p:sp>
        <p:nvSpPr>
          <p:cNvPr id="22" name="Text 20"/>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9FB6D0"/>
                </a:solidFill>
                <a:latin typeface="Calibri" pitchFamily="34" charset="0"/>
                <a:ea typeface="Calibri" pitchFamily="34" charset="-122"/>
                <a:cs typeface="Calibri" pitchFamily="34" charset="-120"/>
              </a:rPr>
              <a:t>Customer Churn Analysis  |  Python &amp; SQL</a:t>
            </a:r>
            <a:endParaRPr lang="en-US" sz="900" dirty="0"/>
          </a:p>
        </p:txBody>
      </p:sp>
      <p:sp>
        <p:nvSpPr>
          <p:cNvPr id="23" name="Text 21"/>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9FB6D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algn="l" indent="0" marL="0">
              <a:buNone/>
            </a:pPr>
            <a:r>
              <a:rPr lang="en-US" sz="3000" b="1" dirty="0">
                <a:solidFill>
                  <a:srgbClr val="10243E"/>
                </a:solidFill>
                <a:latin typeface="Cambria" pitchFamily="34" charset="0"/>
                <a:ea typeface="Cambria" pitchFamily="34" charset="-122"/>
                <a:cs typeface="Cambria" pitchFamily="34" charset="-120"/>
              </a:rPr>
              <a:t>SQL Insights: Tenure &amp; Spending Patterns</a:t>
            </a:r>
            <a:endParaRPr lang="en-US" sz="3000" dirty="0"/>
          </a:p>
        </p:txBody>
      </p:sp>
      <p:sp>
        <p:nvSpPr>
          <p:cNvPr id="3" name="Text 1"/>
          <p:cNvSpPr/>
          <p:nvPr/>
        </p:nvSpPr>
        <p:spPr>
          <a:xfrm>
            <a:off x="457200" y="960120"/>
            <a:ext cx="11247120" cy="365760"/>
          </a:xfrm>
          <a:prstGeom prst="rect">
            <a:avLst/>
          </a:prstGeom>
          <a:noFill/>
          <a:ln/>
        </p:spPr>
        <p:txBody>
          <a:bodyPr wrap="square"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Deeper SQL queries comparing customer loyalty duration, contract pricing, and payment behavior.</a:t>
            </a:r>
            <a:endParaRPr lang="en-US" sz="1250" dirty="0"/>
          </a:p>
        </p:txBody>
      </p:sp>
      <p:sp>
        <p:nvSpPr>
          <p:cNvPr id="4" name="Shape 2"/>
          <p:cNvSpPr/>
          <p:nvPr/>
        </p:nvSpPr>
        <p:spPr>
          <a:xfrm>
            <a:off x="457200" y="1554480"/>
            <a:ext cx="2606040" cy="1508760"/>
          </a:xfrm>
          <a:prstGeom prst="roundRect">
            <a:avLst>
              <a:gd name="adj" fmla="val 7273"/>
            </a:avLst>
          </a:prstGeom>
          <a:solidFill>
            <a:srgbClr val="1C7293"/>
          </a:solidFill>
          <a:ln/>
        </p:spPr>
      </p:sp>
      <p:sp>
        <p:nvSpPr>
          <p:cNvPr id="5" name="Text 3"/>
          <p:cNvSpPr/>
          <p:nvPr/>
        </p:nvSpPr>
        <p:spPr>
          <a:xfrm>
            <a:off x="457200" y="1735531"/>
            <a:ext cx="2606040" cy="829818"/>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37.65 mo</a:t>
            </a:r>
            <a:endParaRPr lang="en-US" sz="2200" dirty="0"/>
          </a:p>
        </p:txBody>
      </p:sp>
      <p:sp>
        <p:nvSpPr>
          <p:cNvPr id="6" name="Text 4"/>
          <p:cNvSpPr/>
          <p:nvPr/>
        </p:nvSpPr>
        <p:spPr>
          <a:xfrm>
            <a:off x="457200" y="2489911"/>
            <a:ext cx="2606040" cy="512978"/>
          </a:xfrm>
          <a:prstGeom prst="rect">
            <a:avLst/>
          </a:prstGeom>
          <a:noFill/>
          <a:ln/>
        </p:spPr>
        <p:txBody>
          <a:bodyPr wrap="square" rtlCol="0" anchor="ctr"/>
          <a:lstStyle/>
          <a:p>
            <a:pPr algn="ctr" indent="0" marL="0">
              <a:buNone/>
            </a:pPr>
            <a:r>
              <a:rPr lang="en-US" sz="1150" dirty="0">
                <a:solidFill>
                  <a:srgbClr val="EAF2FB"/>
                </a:solidFill>
                <a:latin typeface="Calibri" pitchFamily="34" charset="0"/>
                <a:ea typeface="Calibri" pitchFamily="34" charset="-122"/>
                <a:cs typeface="Calibri" pitchFamily="34" charset="-120"/>
              </a:rPr>
              <a:t>Avg Tenure —</a:t>
            </a:r>
            <a:endParaRPr lang="en-US" sz="1150" dirty="0"/>
          </a:p>
          <a:p>
            <a:pPr algn="ctr" indent="0" marL="0">
              <a:buNone/>
            </a:pPr>
            <a:r>
              <a:rPr lang="en-US" sz="1150" dirty="0">
                <a:solidFill>
                  <a:srgbClr val="EAF2FB"/>
                </a:solidFill>
                <a:latin typeface="Calibri" pitchFamily="34" charset="0"/>
                <a:ea typeface="Calibri" pitchFamily="34" charset="-122"/>
                <a:cs typeface="Calibri" pitchFamily="34" charset="-120"/>
              </a:rPr>
              <a:t>Retained Customers</a:t>
            </a:r>
            <a:endParaRPr lang="en-US" sz="1150" dirty="0"/>
          </a:p>
        </p:txBody>
      </p:sp>
      <p:sp>
        <p:nvSpPr>
          <p:cNvPr id="7" name="Shape 5"/>
          <p:cNvSpPr/>
          <p:nvPr/>
        </p:nvSpPr>
        <p:spPr>
          <a:xfrm>
            <a:off x="3319272" y="1554480"/>
            <a:ext cx="2606040" cy="1508760"/>
          </a:xfrm>
          <a:prstGeom prst="roundRect">
            <a:avLst>
              <a:gd name="adj" fmla="val 7273"/>
            </a:avLst>
          </a:prstGeom>
          <a:solidFill>
            <a:srgbClr val="13315C"/>
          </a:solidFill>
          <a:ln/>
        </p:spPr>
      </p:sp>
      <p:sp>
        <p:nvSpPr>
          <p:cNvPr id="8" name="Text 6"/>
          <p:cNvSpPr/>
          <p:nvPr/>
        </p:nvSpPr>
        <p:spPr>
          <a:xfrm>
            <a:off x="3319272" y="1735531"/>
            <a:ext cx="2606040" cy="829818"/>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17.98 mo</a:t>
            </a:r>
            <a:endParaRPr lang="en-US" sz="2200" dirty="0"/>
          </a:p>
        </p:txBody>
      </p:sp>
      <p:sp>
        <p:nvSpPr>
          <p:cNvPr id="9" name="Text 7"/>
          <p:cNvSpPr/>
          <p:nvPr/>
        </p:nvSpPr>
        <p:spPr>
          <a:xfrm>
            <a:off x="3319272" y="2489911"/>
            <a:ext cx="2606040" cy="512978"/>
          </a:xfrm>
          <a:prstGeom prst="rect">
            <a:avLst/>
          </a:prstGeom>
          <a:noFill/>
          <a:ln/>
        </p:spPr>
        <p:txBody>
          <a:bodyPr wrap="square" rtlCol="0" anchor="ctr"/>
          <a:lstStyle/>
          <a:p>
            <a:pPr algn="ctr" indent="0" marL="0">
              <a:buNone/>
            </a:pPr>
            <a:r>
              <a:rPr lang="en-US" sz="1150" dirty="0">
                <a:solidFill>
                  <a:srgbClr val="EAF2FB"/>
                </a:solidFill>
                <a:latin typeface="Calibri" pitchFamily="34" charset="0"/>
                <a:ea typeface="Calibri" pitchFamily="34" charset="-122"/>
                <a:cs typeface="Calibri" pitchFamily="34" charset="-120"/>
              </a:rPr>
              <a:t>Avg Tenure —</a:t>
            </a:r>
            <a:endParaRPr lang="en-US" sz="1150" dirty="0"/>
          </a:p>
          <a:p>
            <a:pPr algn="ctr" indent="0" marL="0">
              <a:buNone/>
            </a:pPr>
            <a:r>
              <a:rPr lang="en-US" sz="1150" dirty="0">
                <a:solidFill>
                  <a:srgbClr val="EAF2FB"/>
                </a:solidFill>
                <a:latin typeface="Calibri" pitchFamily="34" charset="0"/>
                <a:ea typeface="Calibri" pitchFamily="34" charset="-122"/>
                <a:cs typeface="Calibri" pitchFamily="34" charset="-120"/>
              </a:rPr>
              <a:t>Churned Customers</a:t>
            </a:r>
            <a:endParaRPr lang="en-US" sz="1150" dirty="0"/>
          </a:p>
        </p:txBody>
      </p:sp>
      <p:sp>
        <p:nvSpPr>
          <p:cNvPr id="10" name="Shape 8"/>
          <p:cNvSpPr/>
          <p:nvPr/>
        </p:nvSpPr>
        <p:spPr>
          <a:xfrm>
            <a:off x="6181344" y="1554480"/>
            <a:ext cx="2606040" cy="1508760"/>
          </a:xfrm>
          <a:prstGeom prst="roundRect">
            <a:avLst>
              <a:gd name="adj" fmla="val 7273"/>
            </a:avLst>
          </a:prstGeom>
          <a:solidFill>
            <a:srgbClr val="5FA8D3"/>
          </a:solidFill>
          <a:ln/>
        </p:spPr>
      </p:sp>
      <p:sp>
        <p:nvSpPr>
          <p:cNvPr id="11" name="Text 9"/>
          <p:cNvSpPr/>
          <p:nvPr/>
        </p:nvSpPr>
        <p:spPr>
          <a:xfrm>
            <a:off x="6181344" y="1735531"/>
            <a:ext cx="2606040" cy="829818"/>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$66.40</a:t>
            </a:r>
            <a:endParaRPr lang="en-US" sz="2200" dirty="0"/>
          </a:p>
        </p:txBody>
      </p:sp>
      <p:sp>
        <p:nvSpPr>
          <p:cNvPr id="12" name="Text 10"/>
          <p:cNvSpPr/>
          <p:nvPr/>
        </p:nvSpPr>
        <p:spPr>
          <a:xfrm>
            <a:off x="6181344" y="2489911"/>
            <a:ext cx="2606040" cy="512978"/>
          </a:xfrm>
          <a:prstGeom prst="rect">
            <a:avLst/>
          </a:prstGeom>
          <a:noFill/>
          <a:ln/>
        </p:spPr>
        <p:txBody>
          <a:bodyPr wrap="square" rtlCol="0" anchor="ctr"/>
          <a:lstStyle/>
          <a:p>
            <a:pPr algn="ctr" indent="0" marL="0">
              <a:buNone/>
            </a:pPr>
            <a:r>
              <a:rPr lang="en-US" sz="1150" dirty="0">
                <a:solidFill>
                  <a:srgbClr val="EAF2FB"/>
                </a:solidFill>
                <a:latin typeface="Calibri" pitchFamily="34" charset="0"/>
                <a:ea typeface="Calibri" pitchFamily="34" charset="-122"/>
                <a:cs typeface="Calibri" pitchFamily="34" charset="-120"/>
              </a:rPr>
              <a:t>Highest Avg Charge:</a:t>
            </a:r>
            <a:endParaRPr lang="en-US" sz="1150" dirty="0"/>
          </a:p>
          <a:p>
            <a:pPr algn="ctr" indent="0" marL="0">
              <a:buNone/>
            </a:pPr>
            <a:r>
              <a:rPr lang="en-US" sz="1150" dirty="0">
                <a:solidFill>
                  <a:srgbClr val="EAF2FB"/>
                </a:solidFill>
                <a:latin typeface="Calibri" pitchFamily="34" charset="0"/>
                <a:ea typeface="Calibri" pitchFamily="34" charset="-122"/>
                <a:cs typeface="Calibri" pitchFamily="34" charset="-120"/>
              </a:rPr>
              <a:t>Month-to-Month</a:t>
            </a:r>
            <a:endParaRPr lang="en-US" sz="1150" dirty="0"/>
          </a:p>
        </p:txBody>
      </p:sp>
      <p:sp>
        <p:nvSpPr>
          <p:cNvPr id="13" name="Shape 11"/>
          <p:cNvSpPr/>
          <p:nvPr/>
        </p:nvSpPr>
        <p:spPr>
          <a:xfrm>
            <a:off x="9043416" y="1554480"/>
            <a:ext cx="2606040" cy="1508760"/>
          </a:xfrm>
          <a:prstGeom prst="roundRect">
            <a:avLst>
              <a:gd name="adj" fmla="val 7273"/>
            </a:avLst>
          </a:prstGeom>
          <a:solidFill>
            <a:srgbClr val="1C7293"/>
          </a:solidFill>
          <a:ln/>
        </p:spPr>
      </p:sp>
      <p:sp>
        <p:nvSpPr>
          <p:cNvPr id="14" name="Text 12"/>
          <p:cNvSpPr/>
          <p:nvPr/>
        </p:nvSpPr>
        <p:spPr>
          <a:xfrm>
            <a:off x="9043416" y="1735531"/>
            <a:ext cx="2606040" cy="829818"/>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$43.96</a:t>
            </a:r>
            <a:endParaRPr lang="en-US" sz="2200" dirty="0"/>
          </a:p>
        </p:txBody>
      </p:sp>
      <p:sp>
        <p:nvSpPr>
          <p:cNvPr id="15" name="Text 13"/>
          <p:cNvSpPr/>
          <p:nvPr/>
        </p:nvSpPr>
        <p:spPr>
          <a:xfrm>
            <a:off x="9043416" y="2489911"/>
            <a:ext cx="2606040" cy="512978"/>
          </a:xfrm>
          <a:prstGeom prst="rect">
            <a:avLst/>
          </a:prstGeom>
          <a:noFill/>
          <a:ln/>
        </p:spPr>
        <p:txBody>
          <a:bodyPr wrap="square" rtlCol="0" anchor="ctr"/>
          <a:lstStyle/>
          <a:p>
            <a:pPr algn="ctr" indent="0" marL="0">
              <a:buNone/>
            </a:pPr>
            <a:r>
              <a:rPr lang="en-US" sz="1150" dirty="0">
                <a:solidFill>
                  <a:srgbClr val="EAF2FB"/>
                </a:solidFill>
                <a:latin typeface="Calibri" pitchFamily="34" charset="0"/>
                <a:ea typeface="Calibri" pitchFamily="34" charset="-122"/>
                <a:cs typeface="Calibri" pitchFamily="34" charset="-120"/>
              </a:rPr>
              <a:t>Lowest Avg Charge:</a:t>
            </a:r>
            <a:endParaRPr lang="en-US" sz="1150" dirty="0"/>
          </a:p>
          <a:p>
            <a:pPr algn="ctr" indent="0" marL="0">
              <a:buNone/>
            </a:pPr>
            <a:r>
              <a:rPr lang="en-US" sz="1150" dirty="0">
                <a:solidFill>
                  <a:srgbClr val="EAF2FB"/>
                </a:solidFill>
                <a:latin typeface="Calibri" pitchFamily="34" charset="0"/>
                <a:ea typeface="Calibri" pitchFamily="34" charset="-122"/>
                <a:cs typeface="Calibri" pitchFamily="34" charset="-120"/>
              </a:rPr>
              <a:t>Mailed Check</a:t>
            </a:r>
            <a:endParaRPr lang="en-US" sz="1150" dirty="0"/>
          </a:p>
        </p:txBody>
      </p:sp>
      <p:sp>
        <p:nvSpPr>
          <p:cNvPr id="16" name="Shape 14"/>
          <p:cNvSpPr/>
          <p:nvPr/>
        </p:nvSpPr>
        <p:spPr>
          <a:xfrm>
            <a:off x="457200" y="3337560"/>
            <a:ext cx="5440680" cy="2651760"/>
          </a:xfrm>
          <a:prstGeom prst="roundRect">
            <a:avLst>
              <a:gd name="adj" fmla="val 3448"/>
            </a:avLst>
          </a:prstGeom>
          <a:solidFill>
            <a:srgbClr val="F4F8FC"/>
          </a:solidFill>
          <a:ln w="12700">
            <a:solidFill>
              <a:srgbClr val="D8E3EE"/>
            </a:solidFill>
            <a:prstDash val="solid"/>
          </a:ln>
        </p:spPr>
      </p:sp>
      <p:sp>
        <p:nvSpPr>
          <p:cNvPr id="17" name="Text 15"/>
          <p:cNvSpPr/>
          <p:nvPr/>
        </p:nvSpPr>
        <p:spPr>
          <a:xfrm>
            <a:off x="731520" y="3520440"/>
            <a:ext cx="4937760" cy="365760"/>
          </a:xfrm>
          <a:prstGeom prst="rect">
            <a:avLst/>
          </a:prstGeom>
          <a:noFill/>
          <a:ln/>
        </p:spPr>
        <p:txBody>
          <a:bodyPr wrap="square"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Loyalty Grows Over Time</a:t>
            </a:r>
            <a:endParaRPr lang="en-US" sz="1500" dirty="0"/>
          </a:p>
        </p:txBody>
      </p:sp>
      <p:sp>
        <p:nvSpPr>
          <p:cNvPr id="18" name="Text 16"/>
          <p:cNvSpPr/>
          <p:nvPr/>
        </p:nvSpPr>
        <p:spPr>
          <a:xfrm>
            <a:off x="731520" y="3931920"/>
            <a:ext cx="4937760" cy="1920240"/>
          </a:xfrm>
          <a:prstGeom prst="rect">
            <a:avLst/>
          </a:prstGeom>
          <a:noFill/>
          <a:ln/>
        </p:spPr>
        <p:txBody>
          <a:bodyPr wrap="square" rtlCol="0" anchor="ctr"/>
          <a:lstStyle/>
          <a:p>
            <a:pPr indent="0" marL="0">
              <a:lnSpc>
                <a:spcPct val="125000"/>
              </a:lnSpc>
              <a:buNone/>
            </a:pPr>
            <a:r>
              <a:rPr lang="en-US" sz="1250" dirty="0">
                <a:solidFill>
                  <a:srgbClr val="10243E"/>
                </a:solidFill>
                <a:latin typeface="Calibri" pitchFamily="34" charset="0"/>
                <a:ea typeface="Calibri" pitchFamily="34" charset="-122"/>
                <a:cs typeface="Calibri" pitchFamily="34" charset="-120"/>
              </a:rPr>
              <a:t>Customers who stayed had more than double the average tenure of those who churned (37.65 vs. 17.98 months). This confirms that the first year of the customer relationship is the highest-risk period for attrition.</a:t>
            </a:r>
            <a:endParaRPr lang="en-US" sz="1250" dirty="0"/>
          </a:p>
        </p:txBody>
      </p:sp>
      <p:sp>
        <p:nvSpPr>
          <p:cNvPr id="19" name="Shape 17"/>
          <p:cNvSpPr/>
          <p:nvPr/>
        </p:nvSpPr>
        <p:spPr>
          <a:xfrm>
            <a:off x="6263640" y="3337560"/>
            <a:ext cx="5440680" cy="2651760"/>
          </a:xfrm>
          <a:prstGeom prst="roundRect">
            <a:avLst>
              <a:gd name="adj" fmla="val 3448"/>
            </a:avLst>
          </a:prstGeom>
          <a:solidFill>
            <a:srgbClr val="F4F8FC"/>
          </a:solidFill>
          <a:ln w="12700">
            <a:solidFill>
              <a:srgbClr val="D8E3EE"/>
            </a:solidFill>
            <a:prstDash val="solid"/>
          </a:ln>
        </p:spPr>
      </p:sp>
      <p:sp>
        <p:nvSpPr>
          <p:cNvPr id="20" name="Text 18"/>
          <p:cNvSpPr/>
          <p:nvPr/>
        </p:nvSpPr>
        <p:spPr>
          <a:xfrm>
            <a:off x="6537960" y="3520440"/>
            <a:ext cx="4937760" cy="365760"/>
          </a:xfrm>
          <a:prstGeom prst="rect">
            <a:avLst/>
          </a:prstGeom>
          <a:noFill/>
          <a:ln/>
        </p:spPr>
        <p:txBody>
          <a:bodyPr wrap="square"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Payment Method Signals Risk</a:t>
            </a:r>
            <a:endParaRPr lang="en-US" sz="1500" dirty="0"/>
          </a:p>
        </p:txBody>
      </p:sp>
      <p:sp>
        <p:nvSpPr>
          <p:cNvPr id="21" name="Text 19"/>
          <p:cNvSpPr/>
          <p:nvPr/>
        </p:nvSpPr>
        <p:spPr>
          <a:xfrm>
            <a:off x="6537960" y="3931920"/>
            <a:ext cx="4937760" cy="1920240"/>
          </a:xfrm>
          <a:prstGeom prst="rect">
            <a:avLst/>
          </a:prstGeom>
          <a:noFill/>
          <a:ln/>
        </p:spPr>
        <p:txBody>
          <a:bodyPr wrap="square" rtlCol="0" anchor="ctr"/>
          <a:lstStyle/>
          <a:p>
            <a:pPr indent="0" marL="0">
              <a:lnSpc>
                <a:spcPct val="125000"/>
              </a:lnSpc>
              <a:buNone/>
            </a:pPr>
            <a:r>
              <a:rPr lang="en-US" sz="1250" dirty="0">
                <a:solidFill>
                  <a:srgbClr val="10243E"/>
                </a:solidFill>
                <a:latin typeface="Calibri" pitchFamily="34" charset="0"/>
                <a:ea typeface="Calibri" pitchFamily="34" charset="-122"/>
                <a:cs typeface="Calibri" pitchFamily="34" charset="-120"/>
              </a:rPr>
              <a:t>Electronic check users pay the highest average monthly charge ($76.26) and also showed the highest churn earlier in this analysis. Mailed check users pay the least ($43.96) and churn far less — pricing and payment friction likely both play a role.</a:t>
            </a:r>
            <a:endParaRPr lang="en-US" sz="1250" dirty="0"/>
          </a:p>
        </p:txBody>
      </p:sp>
      <p:sp>
        <p:nvSpPr>
          <p:cNvPr id="22" name="Text 20"/>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9BA9B8"/>
                </a:solidFill>
                <a:latin typeface="Calibri" pitchFamily="34" charset="0"/>
                <a:ea typeface="Calibri" pitchFamily="34" charset="-122"/>
                <a:cs typeface="Calibri" pitchFamily="34" charset="-120"/>
              </a:rPr>
              <a:t>Customer Churn Analysis  |  Python &amp; SQL</a:t>
            </a:r>
            <a:endParaRPr lang="en-US" sz="900" dirty="0"/>
          </a:p>
        </p:txBody>
      </p:sp>
      <p:sp>
        <p:nvSpPr>
          <p:cNvPr id="23" name="Text 21"/>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9BA9B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C"/>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algn="l" indent="0" marL="0">
              <a:buNone/>
            </a:pPr>
            <a:r>
              <a:rPr lang="en-US" sz="3000" b="1" dirty="0">
                <a:solidFill>
                  <a:srgbClr val="10243E"/>
                </a:solidFill>
                <a:latin typeface="Cambria" pitchFamily="34" charset="0"/>
                <a:ea typeface="Cambria" pitchFamily="34" charset="-122"/>
                <a:cs typeface="Cambria" pitchFamily="34" charset="-120"/>
              </a:rPr>
              <a:t>SQL Insights: High-Value Customers</a:t>
            </a:r>
            <a:endParaRPr lang="en-US" sz="3000" dirty="0"/>
          </a:p>
        </p:txBody>
      </p:sp>
      <p:sp>
        <p:nvSpPr>
          <p:cNvPr id="3" name="Text 1"/>
          <p:cNvSpPr/>
          <p:nvPr/>
        </p:nvSpPr>
        <p:spPr>
          <a:xfrm>
            <a:off x="457200" y="960120"/>
            <a:ext cx="11247120" cy="365760"/>
          </a:xfrm>
          <a:prstGeom prst="rect">
            <a:avLst/>
          </a:prstGeom>
          <a:noFill/>
          <a:ln/>
        </p:spPr>
        <p:txBody>
          <a:bodyPr wrap="square"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Using ORDER BY and the RANK() window function to identify and prioritize top customers.</a:t>
            </a:r>
            <a:endParaRPr lang="en-US" sz="1250" dirty="0"/>
          </a:p>
        </p:txBody>
      </p:sp>
      <p:sp>
        <p:nvSpPr>
          <p:cNvPr id="4" name="Text 2"/>
          <p:cNvSpPr/>
          <p:nvPr/>
        </p:nvSpPr>
        <p:spPr>
          <a:xfrm>
            <a:off x="457200" y="1508760"/>
            <a:ext cx="5943600" cy="320040"/>
          </a:xfrm>
          <a:prstGeom prst="rect">
            <a:avLst/>
          </a:prstGeom>
          <a:noFill/>
          <a:ln/>
        </p:spPr>
        <p:txBody>
          <a:bodyPr wrap="square"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Top 10 Customers by Total Charges</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5852160" cy="4023360"/>
        </p:xfrm>
        <a:graphic>
          <a:graphicData uri="http://schemas.openxmlformats.org/drawingml/2006/table">
            <a:tbl>
              <a:tblPr/>
              <a:tblGrid>
                <a:gridCol w="1950720"/>
                <a:gridCol w="1950720"/>
                <a:gridCol w="195072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Customer ID</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13315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Contract</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13315C"/>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Total Charges</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13315C"/>
                    </a:solidFill>
                  </a:tcPr>
                </a:tc>
              </a:tr>
              <a:tr h="365760">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2889-FPWRM</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One year</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0243E"/>
                          </a:solidFill>
                          <a:latin typeface="Calibri" pitchFamily="34" charset="0"/>
                          <a:ea typeface="Calibri" pitchFamily="34" charset="-122"/>
                          <a:cs typeface="Calibri" pitchFamily="34" charset="-120"/>
                        </a:rPr>
                        <a:t>$8,684.80</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7569-NMZYQ</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Two year</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0243E"/>
                          </a:solidFill>
                          <a:latin typeface="Calibri" pitchFamily="34" charset="0"/>
                          <a:ea typeface="Calibri" pitchFamily="34" charset="-122"/>
                          <a:cs typeface="Calibri" pitchFamily="34" charset="-120"/>
                        </a:rPr>
                        <a:t>$8,672.45</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9739-JLPQJ</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Two year</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0243E"/>
                          </a:solidFill>
                          <a:latin typeface="Calibri" pitchFamily="34" charset="0"/>
                          <a:ea typeface="Calibri" pitchFamily="34" charset="-122"/>
                          <a:cs typeface="Calibri" pitchFamily="34" charset="-120"/>
                        </a:rPr>
                        <a:t>$8,670.10</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9788-HNGUT</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Two year</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0243E"/>
                          </a:solidFill>
                          <a:latin typeface="Calibri" pitchFamily="34" charset="0"/>
                          <a:ea typeface="Calibri" pitchFamily="34" charset="-122"/>
                          <a:cs typeface="Calibri" pitchFamily="34" charset="-120"/>
                        </a:rPr>
                        <a:t>$8,594.40</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8879-XUAHX</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Two year</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0243E"/>
                          </a:solidFill>
                          <a:latin typeface="Calibri" pitchFamily="34" charset="0"/>
                          <a:ea typeface="Calibri" pitchFamily="34" charset="-122"/>
                          <a:cs typeface="Calibri" pitchFamily="34" charset="-120"/>
                        </a:rPr>
                        <a:t>$8,564.75</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9924-JPRMC</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Two year</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0243E"/>
                          </a:solidFill>
                          <a:latin typeface="Calibri" pitchFamily="34" charset="0"/>
                          <a:ea typeface="Calibri" pitchFamily="34" charset="-122"/>
                          <a:cs typeface="Calibri" pitchFamily="34" charset="-120"/>
                        </a:rPr>
                        <a:t>$8,547.15</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0675-NCDYU</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Two year</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0243E"/>
                          </a:solidFill>
                          <a:latin typeface="Calibri" pitchFamily="34" charset="0"/>
                          <a:ea typeface="Calibri" pitchFamily="34" charset="-122"/>
                          <a:cs typeface="Calibri" pitchFamily="34" charset="-120"/>
                        </a:rPr>
                        <a:t>$8,543.25</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6650-BWFRT</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Two year</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0243E"/>
                          </a:solidFill>
                          <a:latin typeface="Calibri" pitchFamily="34" charset="0"/>
                          <a:ea typeface="Calibri" pitchFamily="34" charset="-122"/>
                          <a:cs typeface="Calibri" pitchFamily="34" charset="-120"/>
                        </a:rPr>
                        <a:t>$8,529.50</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0164-APGRB</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Two year</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0243E"/>
                          </a:solidFill>
                          <a:latin typeface="Calibri" pitchFamily="34" charset="0"/>
                          <a:ea typeface="Calibri" pitchFamily="34" charset="-122"/>
                          <a:cs typeface="Calibri" pitchFamily="34" charset="-120"/>
                        </a:rPr>
                        <a:t>$8,496.70</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1488-PBLJN</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indent="0" marL="0">
                        <a:buNone/>
                      </a:pPr>
                      <a:r>
                        <a:rPr lang="en-US" sz="1100" dirty="0">
                          <a:solidFill>
                            <a:srgbClr val="10243E"/>
                          </a:solidFill>
                          <a:latin typeface="Calibri" pitchFamily="34" charset="0"/>
                          <a:ea typeface="Calibri" pitchFamily="34" charset="-122"/>
                          <a:cs typeface="Calibri" pitchFamily="34" charset="-120"/>
                        </a:rPr>
                        <a:t>Two year</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0243E"/>
                          </a:solidFill>
                          <a:latin typeface="Calibri" pitchFamily="34" charset="0"/>
                          <a:ea typeface="Calibri" pitchFamily="34" charset="-122"/>
                          <a:cs typeface="Calibri" pitchFamily="34" charset="-120"/>
                        </a:rPr>
                        <a:t>$8,477.70</a:t>
                      </a:r>
                      <a:endParaRPr lang="en-US" sz="1100" dirty="0">
                        <a:latin typeface="Calibri" charset="0"/>
                        <a:ea typeface="Calibri" charset="0"/>
                        <a:cs typeface="Calibri" charset="0"/>
                      </a:endParaRPr>
                    </a:p>
                  </a:txBody>
                  <a:tcPr marL="91440" marR="91440" marT="45720" marB="45720">
                    <a:lnL w="9525" cap="flat" cmpd="sng" algn="ctr">
                      <a:solidFill>
                        <a:srgbClr val="D8E3EE"/>
                      </a:solidFill>
                      <a:prstDash val="solid"/>
                      <a:round/>
                      <a:headEnd type="none" w="med" len="med"/>
                      <a:tailEnd type="none" w="med" len="med"/>
                    </a:lnL>
                    <a:lnR w="9525" cap="flat" cmpd="sng" algn="ctr">
                      <a:solidFill>
                        <a:srgbClr val="D8E3EE"/>
                      </a:solidFill>
                      <a:prstDash val="solid"/>
                      <a:round/>
                      <a:headEnd type="none" w="med" len="med"/>
                      <a:tailEnd type="none" w="med" len="med"/>
                    </a:lnR>
                    <a:lnT w="9525" cap="flat" cmpd="sng" algn="ctr">
                      <a:solidFill>
                        <a:srgbClr val="D8E3EE"/>
                      </a:solidFill>
                      <a:prstDash val="solid"/>
                      <a:round/>
                      <a:headEnd type="none" w="med" len="med"/>
                      <a:tailEnd type="none" w="med" len="med"/>
                    </a:lnT>
                    <a:lnB w="9525" cap="flat" cmpd="sng" algn="ctr">
                      <a:solidFill>
                        <a:srgbClr val="D8E3EE"/>
                      </a:solidFill>
                      <a:prstDash val="solid"/>
                      <a:round/>
                      <a:headEnd type="none" w="med" len="med"/>
                      <a:tailEnd type="none" w="med" len="med"/>
                    </a:lnB>
                    <a:solidFill>
                      <a:srgbClr val="FFFFFF"/>
                    </a:solidFill>
                  </a:tcPr>
                </a:tc>
              </a:tr>
            </a:tbl>
          </a:graphicData>
        </a:graphic>
      </p:graphicFrame>
      <p:sp>
        <p:nvSpPr>
          <p:cNvPr id="6" name="Shape 3"/>
          <p:cNvSpPr/>
          <p:nvPr/>
        </p:nvSpPr>
        <p:spPr>
          <a:xfrm>
            <a:off x="6629400" y="1508760"/>
            <a:ext cx="5074920" cy="4709160"/>
          </a:xfrm>
          <a:prstGeom prst="roundRect">
            <a:avLst>
              <a:gd name="adj" fmla="val 1942"/>
            </a:avLst>
          </a:prstGeom>
          <a:solidFill>
            <a:srgbClr val="FFFFFF"/>
          </a:solidFill>
          <a:ln w="12700">
            <a:solidFill>
              <a:srgbClr val="D8E3EE"/>
            </a:solidFill>
            <a:prstDash val="solid"/>
          </a:ln>
        </p:spPr>
      </p:sp>
      <p:sp>
        <p:nvSpPr>
          <p:cNvPr id="7" name="Text 4"/>
          <p:cNvSpPr/>
          <p:nvPr/>
        </p:nvSpPr>
        <p:spPr>
          <a:xfrm>
            <a:off x="6903720" y="1737360"/>
            <a:ext cx="4526280" cy="4251960"/>
          </a:xfrm>
          <a:prstGeom prst="rect">
            <a:avLst/>
          </a:prstGeom>
          <a:noFill/>
          <a:ln/>
        </p:spPr>
        <p:txBody>
          <a:bodyPr wrap="square" rtlCol="0" anchor="t"/>
          <a:lstStyle/>
          <a:p>
            <a:pPr indent="0" marL="0">
              <a:lnSpc>
                <a:spcPct val="115000"/>
              </a:lnSpc>
              <a:buNone/>
            </a:pPr>
            <a:r>
              <a:rPr lang="en-US" sz="1450" b="1" dirty="0">
                <a:solidFill>
                  <a:srgbClr val="1C7293"/>
                </a:solidFill>
                <a:latin typeface="Calibri" pitchFamily="34" charset="0"/>
                <a:ea typeface="Calibri" pitchFamily="34" charset="-122"/>
                <a:cs typeface="Calibri" pitchFamily="34" charset="-120"/>
              </a:rPr>
              <a:t>RANK() Over Total Charges
</a:t>
            </a:r>
            <a:endParaRPr lang="en-US" sz="1450" dirty="0"/>
          </a:p>
          <a:p>
            <a:pPr indent="0" marL="0">
              <a:lnSpc>
                <a:spcPct val="115000"/>
              </a:lnSpc>
              <a:buNone/>
            </a:pPr>
            <a:r>
              <a:rPr lang="en-US" sz="1200" dirty="0">
                <a:solidFill>
                  <a:srgbClr val="10243E"/>
                </a:solidFill>
                <a:latin typeface="Calibri" pitchFamily="34" charset="0"/>
                <a:ea typeface="Calibri" pitchFamily="34" charset="-122"/>
                <a:cs typeface="Calibri" pitchFamily="34" charset="-120"/>
              </a:rPr>
              <a:t>
Customer 2889-FPWRM leads with $8,684.80 in total charges, followed by 7569-NMZYQ at $8,672.45. Nine of the top 10 spenders hold Two-year contracts — the company's most loyal segment.
</a:t>
            </a:r>
            <a:endParaRPr lang="en-US" sz="1450" dirty="0"/>
          </a:p>
          <a:p>
            <a:pPr indent="0" marL="0">
              <a:lnSpc>
                <a:spcPct val="115000"/>
              </a:lnSpc>
              <a:buNone/>
            </a:pPr>
            <a:r>
              <a:rPr lang="en-US" sz="1450" b="1" dirty="0">
                <a:solidFill>
                  <a:srgbClr val="1C7293"/>
                </a:solidFill>
                <a:latin typeface="Calibri" pitchFamily="34" charset="0"/>
                <a:ea typeface="Calibri" pitchFamily="34" charset="-122"/>
                <a:cs typeface="Calibri" pitchFamily="34" charset="-120"/>
              </a:rPr>
              <a:t>Ranking Within Contract Type
</a:t>
            </a:r>
            <a:endParaRPr lang="en-US" sz="1450" dirty="0"/>
          </a:p>
          <a:p>
            <a:pPr indent="0" marL="0">
              <a:lnSpc>
                <a:spcPct val="115000"/>
              </a:lnSpc>
              <a:buNone/>
            </a:pPr>
            <a:r>
              <a:rPr lang="en-US" sz="1200" dirty="0">
                <a:solidFill>
                  <a:srgbClr val="10243E"/>
                </a:solidFill>
                <a:latin typeface="Calibri" pitchFamily="34" charset="0"/>
                <a:ea typeface="Calibri" pitchFamily="34" charset="-122"/>
                <a:cs typeface="Calibri" pitchFamily="34" charset="-120"/>
              </a:rPr>
              <a:t>
Partitioning by contract (RANK() OVER PARTITION BY Contract) surfaces the top spender per segment — e.g. 9481-IFBZY leads Month-to-month customers at $8,061.50.
</a:t>
            </a:r>
            <a:endParaRPr lang="en-US" sz="1450" dirty="0"/>
          </a:p>
          <a:p>
            <a:pPr indent="0" marL="0">
              <a:lnSpc>
                <a:spcPct val="115000"/>
              </a:lnSpc>
              <a:buNone/>
            </a:pPr>
            <a:r>
              <a:rPr lang="en-US" sz="1200" b="1" dirty="0">
                <a:solidFill>
                  <a:srgbClr val="1C7293"/>
                </a:solidFill>
                <a:latin typeface="Calibri" pitchFamily="34" charset="0"/>
                <a:ea typeface="Calibri" pitchFamily="34" charset="-122"/>
                <a:cs typeface="Calibri" pitchFamily="34" charset="-120"/>
              </a:rPr>
              <a:t>Business Insight: </a:t>
            </a:r>
            <a:pPr indent="0" marL="0">
              <a:lnSpc>
                <a:spcPct val="115000"/>
              </a:lnSpc>
              <a:buNone/>
            </a:pPr>
            <a:r>
              <a:rPr lang="en-US" sz="1200" dirty="0">
                <a:solidFill>
                  <a:srgbClr val="10243E"/>
                </a:solidFill>
                <a:latin typeface="Calibri" pitchFamily="34" charset="0"/>
                <a:ea typeface="Calibri" pitchFamily="34" charset="-122"/>
                <a:cs typeface="Calibri" pitchFamily="34" charset="-120"/>
              </a:rPr>
              <a:t>These high-value, long-tenured customers should be prioritized for loyalty rewards — losing them carries outsized revenue impact.</a:t>
            </a:r>
            <a:endParaRPr lang="en-US" sz="1450" dirty="0"/>
          </a:p>
        </p:txBody>
      </p:sp>
      <p:sp>
        <p:nvSpPr>
          <p:cNvPr id="8" name="Text 5"/>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9BA9B8"/>
                </a:solidFill>
                <a:latin typeface="Calibri" pitchFamily="34" charset="0"/>
                <a:ea typeface="Calibri" pitchFamily="34" charset="-122"/>
                <a:cs typeface="Calibri" pitchFamily="34" charset="-120"/>
              </a:rPr>
              <a:t>Customer Churn Analysis  |  Python &amp; SQL</a:t>
            </a:r>
            <a:endParaRPr lang="en-US" sz="900" dirty="0"/>
          </a:p>
        </p:txBody>
      </p:sp>
      <p:sp>
        <p:nvSpPr>
          <p:cNvPr id="9" name="Text 6"/>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9BA9B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rtlCol="0" anchor="ctr"/>
          <a:lstStyle/>
          <a:p>
            <a:pPr algn="l" indent="0" marL="0">
              <a:buNone/>
            </a:pPr>
            <a:r>
              <a:rPr lang="en-US" sz="3000" b="1" dirty="0">
                <a:solidFill>
                  <a:srgbClr val="10243E"/>
                </a:solidFill>
                <a:latin typeface="Cambria" pitchFamily="34" charset="0"/>
                <a:ea typeface="Cambria" pitchFamily="34" charset="-122"/>
                <a:cs typeface="Cambria" pitchFamily="34" charset="-120"/>
              </a:rPr>
              <a:t>Key Findings &amp; Recommendations</a:t>
            </a:r>
            <a:endParaRPr lang="en-US" sz="3000" dirty="0"/>
          </a:p>
        </p:txBody>
      </p:sp>
      <p:sp>
        <p:nvSpPr>
          <p:cNvPr id="3" name="Shape 1"/>
          <p:cNvSpPr/>
          <p:nvPr/>
        </p:nvSpPr>
        <p:spPr>
          <a:xfrm>
            <a:off x="457200" y="1234440"/>
            <a:ext cx="457200" cy="457200"/>
          </a:xfrm>
          <a:prstGeom prst="roundRect">
            <a:avLst>
              <a:gd name="adj" fmla="val 50000"/>
            </a:avLst>
          </a:prstGeom>
          <a:solidFill>
            <a:srgbClr val="1C7293"/>
          </a:solidFill>
          <a:ln/>
        </p:spPr>
      </p:sp>
      <p:sp>
        <p:nvSpPr>
          <p:cNvPr id="4" name="Text 2"/>
          <p:cNvSpPr/>
          <p:nvPr/>
        </p:nvSpPr>
        <p:spPr>
          <a:xfrm>
            <a:off x="457200" y="123444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p:nvPr/>
        </p:nvSpPr>
        <p:spPr>
          <a:xfrm>
            <a:off x="1097280" y="1207008"/>
            <a:ext cx="4937760" cy="502920"/>
          </a:xfrm>
          <a:prstGeom prst="rect">
            <a:avLst/>
          </a:prstGeom>
          <a:noFill/>
          <a:ln/>
        </p:spPr>
        <p:txBody>
          <a:bodyPr wrap="square" rtlCol="0" anchor="ctr"/>
          <a:lstStyle/>
          <a:p>
            <a:pPr indent="0" marL="0">
              <a:buNone/>
            </a:pPr>
            <a:r>
              <a:rPr lang="en-US" sz="1350" b="1" dirty="0">
                <a:solidFill>
                  <a:srgbClr val="10243E"/>
                </a:solidFill>
                <a:latin typeface="Calibri" pitchFamily="34" charset="0"/>
                <a:ea typeface="Calibri" pitchFamily="34" charset="-122"/>
                <a:cs typeface="Calibri" pitchFamily="34" charset="-120"/>
              </a:rPr>
              <a:t>Month-to-month contracts drive churn</a:t>
            </a:r>
            <a:endParaRPr lang="en-US" sz="1350" dirty="0"/>
          </a:p>
        </p:txBody>
      </p:sp>
      <p:sp>
        <p:nvSpPr>
          <p:cNvPr id="6" name="Text 4"/>
          <p:cNvSpPr/>
          <p:nvPr/>
        </p:nvSpPr>
        <p:spPr>
          <a:xfrm>
            <a:off x="6217920" y="1207008"/>
            <a:ext cx="5394960" cy="502920"/>
          </a:xfrm>
          <a:prstGeom prst="rect">
            <a:avLst/>
          </a:prstGeom>
          <a:noFill/>
          <a:ln/>
        </p:spPr>
        <p:txBody>
          <a:bodyPr wrap="square" rtlCol="0" anchor="ctr"/>
          <a:lstStyle/>
          <a:p>
            <a:pPr indent="0" marL="0">
              <a:buNone/>
            </a:pPr>
            <a:r>
              <a:rPr lang="en-US" sz="1300" i="1" dirty="0">
                <a:solidFill>
                  <a:srgbClr val="5B6B7C"/>
                </a:solidFill>
                <a:latin typeface="Calibri" pitchFamily="34" charset="0"/>
                <a:ea typeface="Calibri" pitchFamily="34" charset="-122"/>
                <a:cs typeface="Calibri" pitchFamily="34" charset="-120"/>
              </a:rPr>
              <a:t>Incentivize longer-term contracts with loyalty pricing.</a:t>
            </a:r>
            <a:endParaRPr lang="en-US" sz="1300" dirty="0"/>
          </a:p>
        </p:txBody>
      </p:sp>
      <p:sp>
        <p:nvSpPr>
          <p:cNvPr id="7" name="Shape 5"/>
          <p:cNvSpPr/>
          <p:nvPr/>
        </p:nvSpPr>
        <p:spPr>
          <a:xfrm>
            <a:off x="457200" y="2011680"/>
            <a:ext cx="457200" cy="457200"/>
          </a:xfrm>
          <a:prstGeom prst="roundRect">
            <a:avLst>
              <a:gd name="adj" fmla="val 50000"/>
            </a:avLst>
          </a:prstGeom>
          <a:solidFill>
            <a:srgbClr val="1C7293"/>
          </a:solidFill>
          <a:ln/>
        </p:spPr>
      </p:sp>
      <p:sp>
        <p:nvSpPr>
          <p:cNvPr id="8" name="Text 6"/>
          <p:cNvSpPr/>
          <p:nvPr/>
        </p:nvSpPr>
        <p:spPr>
          <a:xfrm>
            <a:off x="457200" y="201168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p:nvPr/>
        </p:nvSpPr>
        <p:spPr>
          <a:xfrm>
            <a:off x="1097280" y="1984248"/>
            <a:ext cx="4937760" cy="502920"/>
          </a:xfrm>
          <a:prstGeom prst="rect">
            <a:avLst/>
          </a:prstGeom>
          <a:noFill/>
          <a:ln/>
        </p:spPr>
        <p:txBody>
          <a:bodyPr wrap="square" rtlCol="0" anchor="ctr"/>
          <a:lstStyle/>
          <a:p>
            <a:pPr indent="0" marL="0">
              <a:buNone/>
            </a:pPr>
            <a:r>
              <a:rPr lang="en-US" sz="1350" b="1" dirty="0">
                <a:solidFill>
                  <a:srgbClr val="10243E"/>
                </a:solidFill>
                <a:latin typeface="Calibri" pitchFamily="34" charset="0"/>
                <a:ea typeface="Calibri" pitchFamily="34" charset="-122"/>
                <a:cs typeface="Calibri" pitchFamily="34" charset="-120"/>
              </a:rPr>
              <a:t>New customers churn early (avg. 18 months)</a:t>
            </a:r>
            <a:endParaRPr lang="en-US" sz="1350" dirty="0"/>
          </a:p>
        </p:txBody>
      </p:sp>
      <p:sp>
        <p:nvSpPr>
          <p:cNvPr id="10" name="Text 8"/>
          <p:cNvSpPr/>
          <p:nvPr/>
        </p:nvSpPr>
        <p:spPr>
          <a:xfrm>
            <a:off x="6217920" y="1984248"/>
            <a:ext cx="5394960" cy="502920"/>
          </a:xfrm>
          <a:prstGeom prst="rect">
            <a:avLst/>
          </a:prstGeom>
          <a:noFill/>
          <a:ln/>
        </p:spPr>
        <p:txBody>
          <a:bodyPr wrap="square" rtlCol="0" anchor="ctr"/>
          <a:lstStyle/>
          <a:p>
            <a:pPr indent="0" marL="0">
              <a:buNone/>
            </a:pPr>
            <a:r>
              <a:rPr lang="en-US" sz="1300" i="1" dirty="0">
                <a:solidFill>
                  <a:srgbClr val="5B6B7C"/>
                </a:solidFill>
                <a:latin typeface="Calibri" pitchFamily="34" charset="0"/>
                <a:ea typeface="Calibri" pitchFamily="34" charset="-122"/>
                <a:cs typeface="Calibri" pitchFamily="34" charset="-120"/>
              </a:rPr>
              <a:t>Strengthen onboarding and early engagement.</a:t>
            </a:r>
            <a:endParaRPr lang="en-US" sz="1300" dirty="0"/>
          </a:p>
        </p:txBody>
      </p:sp>
      <p:sp>
        <p:nvSpPr>
          <p:cNvPr id="11" name="Shape 9"/>
          <p:cNvSpPr/>
          <p:nvPr/>
        </p:nvSpPr>
        <p:spPr>
          <a:xfrm>
            <a:off x="457200" y="2788920"/>
            <a:ext cx="457200" cy="457200"/>
          </a:xfrm>
          <a:prstGeom prst="roundRect">
            <a:avLst>
              <a:gd name="adj" fmla="val 50000"/>
            </a:avLst>
          </a:prstGeom>
          <a:solidFill>
            <a:srgbClr val="1C7293"/>
          </a:solidFill>
          <a:ln/>
        </p:spPr>
      </p:sp>
      <p:sp>
        <p:nvSpPr>
          <p:cNvPr id="12" name="Text 10"/>
          <p:cNvSpPr/>
          <p:nvPr/>
        </p:nvSpPr>
        <p:spPr>
          <a:xfrm>
            <a:off x="457200" y="278892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p:nvPr/>
        </p:nvSpPr>
        <p:spPr>
          <a:xfrm>
            <a:off x="1097280" y="2761488"/>
            <a:ext cx="4937760" cy="502920"/>
          </a:xfrm>
          <a:prstGeom prst="rect">
            <a:avLst/>
          </a:prstGeom>
          <a:noFill/>
          <a:ln/>
        </p:spPr>
        <p:txBody>
          <a:bodyPr wrap="square" rtlCol="0" anchor="ctr"/>
          <a:lstStyle/>
          <a:p>
            <a:pPr indent="0" marL="0">
              <a:buNone/>
            </a:pPr>
            <a:r>
              <a:rPr lang="en-US" sz="1350" b="1" dirty="0">
                <a:solidFill>
                  <a:srgbClr val="10243E"/>
                </a:solidFill>
                <a:latin typeface="Calibri" pitchFamily="34" charset="0"/>
                <a:ea typeface="Calibri" pitchFamily="34" charset="-122"/>
                <a:cs typeface="Calibri" pitchFamily="34" charset="-120"/>
              </a:rPr>
              <a:t>Electronic check users churn most</a:t>
            </a:r>
            <a:endParaRPr lang="en-US" sz="1350" dirty="0"/>
          </a:p>
        </p:txBody>
      </p:sp>
      <p:sp>
        <p:nvSpPr>
          <p:cNvPr id="14" name="Text 12"/>
          <p:cNvSpPr/>
          <p:nvPr/>
        </p:nvSpPr>
        <p:spPr>
          <a:xfrm>
            <a:off x="6217920" y="2761488"/>
            <a:ext cx="5394960" cy="502920"/>
          </a:xfrm>
          <a:prstGeom prst="rect">
            <a:avLst/>
          </a:prstGeom>
          <a:noFill/>
          <a:ln/>
        </p:spPr>
        <p:txBody>
          <a:bodyPr wrap="square" rtlCol="0" anchor="ctr"/>
          <a:lstStyle/>
          <a:p>
            <a:pPr indent="0" marL="0">
              <a:buNone/>
            </a:pPr>
            <a:r>
              <a:rPr lang="en-US" sz="1300" i="1" dirty="0">
                <a:solidFill>
                  <a:srgbClr val="5B6B7C"/>
                </a:solidFill>
                <a:latin typeface="Calibri" pitchFamily="34" charset="0"/>
                <a:ea typeface="Calibri" pitchFamily="34" charset="-122"/>
                <a:cs typeface="Calibri" pitchFamily="34" charset="-120"/>
              </a:rPr>
              <a:t>Encourage migration to automatic payment methods.</a:t>
            </a:r>
            <a:endParaRPr lang="en-US" sz="1300" dirty="0"/>
          </a:p>
        </p:txBody>
      </p:sp>
      <p:sp>
        <p:nvSpPr>
          <p:cNvPr id="15" name="Shape 13"/>
          <p:cNvSpPr/>
          <p:nvPr/>
        </p:nvSpPr>
        <p:spPr>
          <a:xfrm>
            <a:off x="457200" y="3566160"/>
            <a:ext cx="457200" cy="457200"/>
          </a:xfrm>
          <a:prstGeom prst="roundRect">
            <a:avLst>
              <a:gd name="adj" fmla="val 50000"/>
            </a:avLst>
          </a:prstGeom>
          <a:solidFill>
            <a:srgbClr val="1C7293"/>
          </a:solidFill>
          <a:ln/>
        </p:spPr>
      </p:sp>
      <p:sp>
        <p:nvSpPr>
          <p:cNvPr id="16" name="Text 14"/>
          <p:cNvSpPr/>
          <p:nvPr/>
        </p:nvSpPr>
        <p:spPr>
          <a:xfrm>
            <a:off x="457200" y="356616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p:nvPr/>
        </p:nvSpPr>
        <p:spPr>
          <a:xfrm>
            <a:off x="1097280" y="3538728"/>
            <a:ext cx="4937760" cy="502920"/>
          </a:xfrm>
          <a:prstGeom prst="rect">
            <a:avLst/>
          </a:prstGeom>
          <a:noFill/>
          <a:ln/>
        </p:spPr>
        <p:txBody>
          <a:bodyPr wrap="square" rtlCol="0" anchor="ctr"/>
          <a:lstStyle/>
          <a:p>
            <a:pPr indent="0" marL="0">
              <a:buNone/>
            </a:pPr>
            <a:r>
              <a:rPr lang="en-US" sz="1350" b="1" dirty="0">
                <a:solidFill>
                  <a:srgbClr val="10243E"/>
                </a:solidFill>
                <a:latin typeface="Calibri" pitchFamily="34" charset="0"/>
                <a:ea typeface="Calibri" pitchFamily="34" charset="-122"/>
                <a:cs typeface="Calibri" pitchFamily="34" charset="-120"/>
              </a:rPr>
              <a:t>Fiber optic customers churn more</a:t>
            </a:r>
            <a:endParaRPr lang="en-US" sz="1350" dirty="0"/>
          </a:p>
        </p:txBody>
      </p:sp>
      <p:sp>
        <p:nvSpPr>
          <p:cNvPr id="18" name="Text 16"/>
          <p:cNvSpPr/>
          <p:nvPr/>
        </p:nvSpPr>
        <p:spPr>
          <a:xfrm>
            <a:off x="6217920" y="3538728"/>
            <a:ext cx="5394960" cy="502920"/>
          </a:xfrm>
          <a:prstGeom prst="rect">
            <a:avLst/>
          </a:prstGeom>
          <a:noFill/>
          <a:ln/>
        </p:spPr>
        <p:txBody>
          <a:bodyPr wrap="square" rtlCol="0" anchor="ctr"/>
          <a:lstStyle/>
          <a:p>
            <a:pPr indent="0" marL="0">
              <a:buNone/>
            </a:pPr>
            <a:r>
              <a:rPr lang="en-US" sz="1300" i="1" dirty="0">
                <a:solidFill>
                  <a:srgbClr val="5B6B7C"/>
                </a:solidFill>
                <a:latin typeface="Calibri" pitchFamily="34" charset="0"/>
                <a:ea typeface="Calibri" pitchFamily="34" charset="-122"/>
                <a:cs typeface="Calibri" pitchFamily="34" charset="-120"/>
              </a:rPr>
              <a:t>Investigate pricing and service quality for fiber users.</a:t>
            </a:r>
            <a:endParaRPr lang="en-US" sz="1300" dirty="0"/>
          </a:p>
        </p:txBody>
      </p:sp>
      <p:sp>
        <p:nvSpPr>
          <p:cNvPr id="19" name="Shape 17"/>
          <p:cNvSpPr/>
          <p:nvPr/>
        </p:nvSpPr>
        <p:spPr>
          <a:xfrm>
            <a:off x="457200" y="4389120"/>
            <a:ext cx="11155680" cy="0"/>
          </a:xfrm>
          <a:prstGeom prst="line">
            <a:avLst/>
          </a:prstGeom>
          <a:noFill/>
          <a:ln w="12700">
            <a:solidFill>
              <a:srgbClr val="D8E3EE"/>
            </a:solidFill>
            <a:prstDash val="solid"/>
          </a:ln>
        </p:spPr>
      </p:sp>
      <p:sp>
        <p:nvSpPr>
          <p:cNvPr id="20" name="Text 18"/>
          <p:cNvSpPr/>
          <p:nvPr/>
        </p:nvSpPr>
        <p:spPr>
          <a:xfrm>
            <a:off x="457200" y="4663440"/>
            <a:ext cx="11247120" cy="640080"/>
          </a:xfrm>
          <a:prstGeom prst="rect">
            <a:avLst/>
          </a:prstGeom>
          <a:noFill/>
          <a:ln/>
        </p:spPr>
        <p:txBody>
          <a:bodyPr wrap="square" rtlCol="0" anchor="ctr"/>
          <a:lstStyle/>
          <a:p>
            <a:pPr algn="ctr" indent="0" marL="0">
              <a:buNone/>
            </a:pPr>
            <a:r>
              <a:rPr lang="en-US" sz="1600" i="1" dirty="0">
                <a:solidFill>
                  <a:srgbClr val="1C7293"/>
                </a:solidFill>
                <a:latin typeface="Cambria" pitchFamily="34" charset="0"/>
                <a:ea typeface="Cambria" pitchFamily="34" charset="-122"/>
                <a:cs typeface="Cambria" pitchFamily="34" charset="-120"/>
              </a:rPr>
              <a:t>"Understanding why customers leave is the first step toward making them stay."</a:t>
            </a:r>
            <a:endParaRPr lang="en-US" sz="1600" dirty="0"/>
          </a:p>
        </p:txBody>
      </p:sp>
      <p:sp>
        <p:nvSpPr>
          <p:cNvPr id="21" name="Text 19"/>
          <p:cNvSpPr/>
          <p:nvPr/>
        </p:nvSpPr>
        <p:spPr>
          <a:xfrm>
            <a:off x="457200" y="6537960"/>
            <a:ext cx="7315200" cy="274320"/>
          </a:xfrm>
          <a:prstGeom prst="rect">
            <a:avLst/>
          </a:prstGeom>
          <a:noFill/>
          <a:ln/>
        </p:spPr>
        <p:txBody>
          <a:bodyPr wrap="square" rtlCol="0" anchor="ctr"/>
          <a:lstStyle/>
          <a:p>
            <a:pPr algn="l" indent="0" marL="0">
              <a:buNone/>
            </a:pPr>
            <a:r>
              <a:rPr lang="en-US" sz="900" dirty="0">
                <a:solidFill>
                  <a:srgbClr val="9BA9B8"/>
                </a:solidFill>
                <a:latin typeface="Calibri" pitchFamily="34" charset="0"/>
                <a:ea typeface="Calibri" pitchFamily="34" charset="-122"/>
                <a:cs typeface="Calibri" pitchFamily="34" charset="-120"/>
              </a:rPr>
              <a:t>Customer Churn Analysis  |  Python &amp; SQL</a:t>
            </a:r>
            <a:endParaRPr lang="en-US" sz="900" dirty="0"/>
          </a:p>
        </p:txBody>
      </p:sp>
      <p:sp>
        <p:nvSpPr>
          <p:cNvPr id="22" name="Text 20"/>
          <p:cNvSpPr/>
          <p:nvPr/>
        </p:nvSpPr>
        <p:spPr>
          <a:xfrm>
            <a:off x="11247120" y="6537960"/>
            <a:ext cx="457200" cy="274320"/>
          </a:xfrm>
          <a:prstGeom prst="rect">
            <a:avLst/>
          </a:prstGeom>
          <a:noFill/>
          <a:ln/>
        </p:spPr>
        <p:txBody>
          <a:bodyPr wrap="square" rtlCol="0" anchor="ctr"/>
          <a:lstStyle/>
          <a:p>
            <a:pPr algn="r" indent="0" marL="0">
              <a:buNone/>
            </a:pPr>
            <a:r>
              <a:rPr lang="en-US" sz="900" dirty="0">
                <a:solidFill>
                  <a:srgbClr val="9BA9B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463040" y="4389120"/>
            <a:ext cx="3840480" cy="3840480"/>
          </a:xfrm>
          <a:prstGeom prst="ellipse">
            <a:avLst/>
          </a:prstGeom>
          <a:solidFill>
            <a:srgbClr val="13315C"/>
          </a:solidFill>
          <a:ln/>
        </p:spPr>
      </p:sp>
      <p:sp>
        <p:nvSpPr>
          <p:cNvPr id="3" name="Shape 1"/>
          <p:cNvSpPr/>
          <p:nvPr/>
        </p:nvSpPr>
        <p:spPr>
          <a:xfrm>
            <a:off x="9875520" y="-1463040"/>
            <a:ext cx="3291840" cy="3291840"/>
          </a:xfrm>
          <a:prstGeom prst="ellipse">
            <a:avLst/>
          </a:prstGeom>
          <a:solidFill>
            <a:srgbClr val="1C7293"/>
          </a:solidFill>
          <a:ln/>
        </p:spPr>
      </p:sp>
      <p:sp>
        <p:nvSpPr>
          <p:cNvPr id="4" name="Text 2"/>
          <p:cNvSpPr/>
          <p:nvPr/>
        </p:nvSpPr>
        <p:spPr>
          <a:xfrm>
            <a:off x="731520" y="2468880"/>
            <a:ext cx="91440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3"/>
          <p:cNvSpPr/>
          <p:nvPr/>
        </p:nvSpPr>
        <p:spPr>
          <a:xfrm>
            <a:off x="731520" y="3246120"/>
            <a:ext cx="9144000" cy="457200"/>
          </a:xfrm>
          <a:prstGeom prst="rect">
            <a:avLst/>
          </a:prstGeom>
          <a:noFill/>
          <a:ln/>
        </p:spPr>
        <p:txBody>
          <a:bodyPr wrap="square" rtlCol="0" anchor="ctr"/>
          <a:lstStyle/>
          <a:p>
            <a:pPr indent="0" marL="0">
              <a:buNone/>
            </a:pPr>
            <a:r>
              <a:rPr lang="en-US" sz="1600" i="1" dirty="0">
                <a:solidFill>
                  <a:srgbClr val="8FB8DE"/>
                </a:solidFill>
                <a:latin typeface="Calibri" pitchFamily="34" charset="0"/>
                <a:ea typeface="Calibri" pitchFamily="34" charset="-122"/>
                <a:cs typeface="Calibri" pitchFamily="34" charset="-120"/>
              </a:rPr>
              <a:t>Customer Churn Analysis using Python &amp; SQL</a:t>
            </a:r>
            <a:endParaRPr lang="en-US" sz="1600" dirty="0"/>
          </a:p>
        </p:txBody>
      </p:sp>
      <p:sp>
        <p:nvSpPr>
          <p:cNvPr id="6" name="Text 4"/>
          <p:cNvSpPr/>
          <p:nvPr/>
        </p:nvSpPr>
        <p:spPr>
          <a:xfrm>
            <a:off x="731520" y="4114800"/>
            <a:ext cx="731520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Riya Mawar</a:t>
            </a:r>
            <a:endParaRPr lang="en-US" sz="1500" dirty="0"/>
          </a:p>
        </p:txBody>
      </p:sp>
      <p:sp>
        <p:nvSpPr>
          <p:cNvPr id="7" name="Text 5"/>
          <p:cNvSpPr/>
          <p:nvPr/>
        </p:nvSpPr>
        <p:spPr>
          <a:xfrm>
            <a:off x="731520" y="4480560"/>
            <a:ext cx="7315200" cy="365760"/>
          </a:xfrm>
          <a:prstGeom prst="rect">
            <a:avLst/>
          </a:prstGeom>
          <a:noFill/>
          <a:ln/>
        </p:spPr>
        <p:txBody>
          <a:bodyPr wrap="square" rtlCol="0" anchor="ctr"/>
          <a:lstStyle/>
          <a:p>
            <a:pPr indent="0" marL="0">
              <a:buNone/>
            </a:pPr>
            <a:r>
              <a:rPr lang="en-US" sz="1250" dirty="0">
                <a:solidFill>
                  <a:srgbClr val="9FB6D0"/>
                </a:solidFill>
                <a:latin typeface="Calibri" pitchFamily="34" charset="0"/>
                <a:ea typeface="Calibri" pitchFamily="34" charset="-122"/>
                <a:cs typeface="Calibri" pitchFamily="34" charset="-120"/>
              </a:rPr>
              <a:t>Open to feedback and collaboration — let's connect!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2026-07-10T05:21:30Z</dcterms:created>
  <dcterms:modified xsi:type="dcterms:W3CDTF">2026-07-10T05:21:30Z</dcterms:modified>
</cp:coreProperties>
</file>